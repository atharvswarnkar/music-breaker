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744"/>
        </a:solidFill>
        <a:effectLst/>
      </p:bgPr>
    </p:bg>
    <p:spTree>
      <p:nvGrpSpPr>
        <p:cNvPr id="1" name=""/>
        <p:cNvGrpSpPr/>
        <p:nvPr/>
      </p:nvGrpSpPr>
      <p:grpSpPr/>
      <p:sp>
        <p:nvSpPr>
          <p:cNvPr id="2" name="Rectangle 1"/>
          <p:cNvSpPr/>
          <p:nvPr/>
        </p:nvSpPr>
        <p:spPr>
          <a:xfrm>
            <a:off x="8778240" y="0"/>
            <a:ext cx="3413455" cy="6858000"/>
          </a:xfrm>
          <a:prstGeom prst="rect">
            <a:avLst/>
          </a:prstGeom>
          <a:solidFill>
            <a:srgbClr val="19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235440" y="1005840"/>
            <a:ext cx="2286000" cy="50292"/>
          </a:xfrm>
          <a:prstGeom prst="rect">
            <a:avLst/>
          </a:prstGeom>
          <a:solidFill>
            <a:srgbClr val="0085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235440" y="1828800"/>
            <a:ext cx="1645920" cy="50292"/>
          </a:xfrm>
          <a:prstGeom prst="rect">
            <a:avLst/>
          </a:prstGeom>
          <a:solidFill>
            <a:srgbClr val="2D6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235440" y="2651760"/>
            <a:ext cx="2651760" cy="50292"/>
          </a:xfrm>
          <a:prstGeom prst="rect">
            <a:avLst/>
          </a:prstGeom>
          <a:solidFill>
            <a:srgbClr val="0085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235440" y="3474720"/>
            <a:ext cx="1920240" cy="50292"/>
          </a:xfrm>
          <a:prstGeom prst="rect">
            <a:avLst/>
          </a:prstGeom>
          <a:solidFill>
            <a:srgbClr val="2D6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235440" y="4297680"/>
            <a:ext cx="2377440" cy="50292"/>
          </a:xfrm>
          <a:prstGeom prst="rect">
            <a:avLst/>
          </a:prstGeom>
          <a:solidFill>
            <a:srgbClr val="0085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235440" y="5120640"/>
            <a:ext cx="1463040" cy="50292"/>
          </a:xfrm>
          <a:prstGeom prst="rect">
            <a:avLst/>
          </a:prstGeom>
          <a:solidFill>
            <a:srgbClr val="2D6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658368"/>
            <a:ext cx="7223760" cy="320040"/>
          </a:xfrm>
          <a:prstGeom prst="rect">
            <a:avLst/>
          </a:prstGeom>
          <a:noFill/>
        </p:spPr>
        <p:txBody>
          <a:bodyPr wrap="square" lIns="27432" rIns="27432" tIns="27432" bIns="27432" anchor="t">
            <a:spAutoFit/>
          </a:bodyPr>
          <a:lstStyle/>
          <a:p>
            <a:pPr algn="l">
              <a:spcAft>
                <a:spcPts val="500"/>
              </a:spcAft>
              <a:defRPr sz="1300" b="1" i="0">
                <a:solidFill>
                  <a:srgbClr val="A8D8DB"/>
                </a:solidFill>
                <a:latin typeface="Aptos"/>
              </a:defRPr>
            </a:pPr>
            <a:r>
              <a:t>B.TECH • COMPUTER SCIENCE AND ENGINEERING</a:t>
            </a:r>
          </a:p>
        </p:txBody>
      </p:sp>
      <p:sp>
        <p:nvSpPr>
          <p:cNvPr id="10" name="TextBox 9"/>
          <p:cNvSpPr txBox="1"/>
          <p:nvPr/>
        </p:nvSpPr>
        <p:spPr>
          <a:xfrm>
            <a:off x="777240" y="1463040"/>
            <a:ext cx="7315200" cy="1417320"/>
          </a:xfrm>
          <a:prstGeom prst="rect">
            <a:avLst/>
          </a:prstGeom>
          <a:noFill/>
        </p:spPr>
        <p:txBody>
          <a:bodyPr wrap="square" lIns="27432" rIns="27432" tIns="27432" bIns="27432" anchor="t">
            <a:spAutoFit/>
          </a:bodyPr>
          <a:lstStyle/>
          <a:p>
            <a:pPr algn="l">
              <a:spcAft>
                <a:spcPts val="500"/>
              </a:spcAft>
              <a:defRPr sz="3000" b="1" i="0">
                <a:solidFill>
                  <a:srgbClr val="FFFFFF"/>
                </a:solidFill>
                <a:latin typeface="Aptos Display"/>
              </a:defRPr>
            </a:pPr>
            <a:r>
              <a:t>AI-BASED MUSIC</a:t>
            </a:r>
          </a:p>
          <a:p>
            <a:pPr algn="l">
              <a:spcAft>
                <a:spcPts val="500"/>
              </a:spcAft>
              <a:defRPr sz="3000" b="1" i="0">
                <a:solidFill>
                  <a:srgbClr val="FFFFFF"/>
                </a:solidFill>
                <a:latin typeface="Aptos Display"/>
              </a:defRPr>
            </a:pPr>
            <a:r>
              <a:t>INSTRUMENT RECOGNITION SYSTEM</a:t>
            </a:r>
          </a:p>
        </p:txBody>
      </p:sp>
      <p:sp>
        <p:nvSpPr>
          <p:cNvPr id="11" name="TextBox 10"/>
          <p:cNvSpPr txBox="1"/>
          <p:nvPr/>
        </p:nvSpPr>
        <p:spPr>
          <a:xfrm>
            <a:off x="804672" y="3154680"/>
            <a:ext cx="6858000" cy="640080"/>
          </a:xfrm>
          <a:prstGeom prst="rect">
            <a:avLst/>
          </a:prstGeom>
          <a:noFill/>
        </p:spPr>
        <p:txBody>
          <a:bodyPr wrap="square" lIns="27432" rIns="27432" tIns="27432" bIns="27432" anchor="t">
            <a:spAutoFit/>
          </a:bodyPr>
          <a:lstStyle/>
          <a:p>
            <a:pPr algn="l">
              <a:spcAft>
                <a:spcPts val="500"/>
              </a:spcAft>
              <a:defRPr sz="1500" b="1" i="0">
                <a:solidFill>
                  <a:srgbClr val="D1DEEC"/>
                </a:solidFill>
                <a:latin typeface="Aptos"/>
              </a:defRPr>
            </a:pPr>
            <a:r>
              <a:t>PROJECT REVIEW  •  28 OCTOBER 2026</a:t>
            </a:r>
          </a:p>
        </p:txBody>
      </p:sp>
      <p:sp>
        <p:nvSpPr>
          <p:cNvPr id="12" name="Rounded Rectangle 11"/>
          <p:cNvSpPr/>
          <p:nvPr/>
        </p:nvSpPr>
        <p:spPr>
          <a:xfrm>
            <a:off x="777240" y="4096512"/>
            <a:ext cx="7223760" cy="1417320"/>
          </a:xfrm>
          <a:prstGeom prst="roundRect">
            <a:avLst>
              <a:gd name="adj" fmla="val 12000"/>
            </a:avLst>
          </a:prstGeom>
          <a:solidFill>
            <a:srgbClr val="1D3450"/>
          </a:solidFill>
          <a:ln w="10160">
            <a:solidFill>
              <a:srgbClr val="4158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279392"/>
            <a:ext cx="3200400" cy="274320"/>
          </a:xfrm>
          <a:prstGeom prst="rect">
            <a:avLst/>
          </a:prstGeom>
          <a:noFill/>
        </p:spPr>
        <p:txBody>
          <a:bodyPr wrap="square" lIns="27432" rIns="27432" tIns="27432" bIns="27432" anchor="t">
            <a:spAutoFit/>
          </a:bodyPr>
          <a:lstStyle/>
          <a:p>
            <a:pPr algn="l">
              <a:spcAft>
                <a:spcPts val="500"/>
              </a:spcAft>
              <a:defRPr sz="1000" b="1" i="0">
                <a:solidFill>
                  <a:srgbClr val="A8D8DB"/>
                </a:solidFill>
                <a:latin typeface="Aptos"/>
              </a:defRPr>
            </a:pPr>
            <a:r>
              <a:t>TEAM MEMBERS</a:t>
            </a:r>
          </a:p>
        </p:txBody>
      </p:sp>
      <p:sp>
        <p:nvSpPr>
          <p:cNvPr id="14" name="TextBox 13"/>
          <p:cNvSpPr txBox="1"/>
          <p:nvPr/>
        </p:nvSpPr>
        <p:spPr>
          <a:xfrm>
            <a:off x="1005840" y="4617720"/>
            <a:ext cx="3063240" cy="640080"/>
          </a:xfrm>
          <a:prstGeom prst="rect">
            <a:avLst/>
          </a:prstGeom>
          <a:noFill/>
        </p:spPr>
        <p:txBody>
          <a:bodyPr wrap="square" lIns="27432" rIns="27432" tIns="27432" bIns="27432" anchor="t">
            <a:spAutoFit/>
          </a:bodyPr>
          <a:lstStyle/>
          <a:p>
            <a:pPr algn="l">
              <a:spcAft>
                <a:spcPts val="500"/>
              </a:spcAft>
              <a:defRPr sz="1200" b="0" i="0">
                <a:solidFill>
                  <a:srgbClr val="FFFFFF"/>
                </a:solidFill>
                <a:latin typeface="Aptos"/>
              </a:defRPr>
            </a:pPr>
            <a:r>
              <a:t>[Name]  •  [Registration Number]</a:t>
            </a:r>
          </a:p>
          <a:p>
            <a:pPr algn="l">
              <a:spcAft>
                <a:spcPts val="500"/>
              </a:spcAft>
              <a:defRPr sz="1200" b="0" i="0">
                <a:solidFill>
                  <a:srgbClr val="FFFFFF"/>
                </a:solidFill>
                <a:latin typeface="Aptos"/>
              </a:defRPr>
            </a:pPr>
            <a:r>
              <a:t>[Name]  •  [Registration Number]</a:t>
            </a:r>
          </a:p>
        </p:txBody>
      </p:sp>
      <p:sp>
        <p:nvSpPr>
          <p:cNvPr id="15" name="TextBox 14"/>
          <p:cNvSpPr txBox="1"/>
          <p:nvPr/>
        </p:nvSpPr>
        <p:spPr>
          <a:xfrm>
            <a:off x="4251960" y="4279392"/>
            <a:ext cx="3108960" cy="274320"/>
          </a:xfrm>
          <a:prstGeom prst="rect">
            <a:avLst/>
          </a:prstGeom>
          <a:noFill/>
        </p:spPr>
        <p:txBody>
          <a:bodyPr wrap="square" lIns="27432" rIns="27432" tIns="27432" bIns="27432" anchor="t">
            <a:spAutoFit/>
          </a:bodyPr>
          <a:lstStyle/>
          <a:p>
            <a:pPr algn="l">
              <a:spcAft>
                <a:spcPts val="500"/>
              </a:spcAft>
              <a:defRPr sz="1000" b="1" i="0">
                <a:solidFill>
                  <a:srgbClr val="A8D8DB"/>
                </a:solidFill>
                <a:latin typeface="Aptos"/>
              </a:defRPr>
            </a:pPr>
            <a:r>
              <a:t>FACULTY GUIDE</a:t>
            </a:r>
          </a:p>
        </p:txBody>
      </p:sp>
      <p:sp>
        <p:nvSpPr>
          <p:cNvPr id="16" name="TextBox 15"/>
          <p:cNvSpPr txBox="1"/>
          <p:nvPr/>
        </p:nvSpPr>
        <p:spPr>
          <a:xfrm>
            <a:off x="4251960" y="4617720"/>
            <a:ext cx="2926080" cy="640080"/>
          </a:xfrm>
          <a:prstGeom prst="rect">
            <a:avLst/>
          </a:prstGeom>
          <a:noFill/>
        </p:spPr>
        <p:txBody>
          <a:bodyPr wrap="square" lIns="27432" rIns="27432" tIns="27432" bIns="27432" anchor="t">
            <a:spAutoFit/>
          </a:bodyPr>
          <a:lstStyle/>
          <a:p>
            <a:pPr algn="l">
              <a:spcAft>
                <a:spcPts val="500"/>
              </a:spcAft>
              <a:defRPr sz="1200" b="0" i="0">
                <a:solidFill>
                  <a:srgbClr val="FFFFFF"/>
                </a:solidFill>
                <a:latin typeface="Aptos"/>
              </a:defRPr>
            </a:pPr>
            <a:r>
              <a:t>[Guide Name]</a:t>
            </a:r>
          </a:p>
          <a:p>
            <a:pPr algn="l">
              <a:spcAft>
                <a:spcPts val="500"/>
              </a:spcAft>
              <a:defRPr sz="1200" b="0" i="0">
                <a:solidFill>
                  <a:srgbClr val="FFFFFF"/>
                </a:solidFill>
                <a:latin typeface="Aptos"/>
              </a:defRPr>
            </a:pPr>
            <a:r>
              <a:t>[Course Code / Course Title]</a:t>
            </a:r>
          </a:p>
        </p:txBody>
      </p:sp>
      <p:sp>
        <p:nvSpPr>
          <p:cNvPr id="17" name="TextBox 16"/>
          <p:cNvSpPr txBox="1"/>
          <p:nvPr/>
        </p:nvSpPr>
        <p:spPr>
          <a:xfrm>
            <a:off x="804672" y="6144768"/>
            <a:ext cx="7132320" cy="228600"/>
          </a:xfrm>
          <a:prstGeom prst="rect">
            <a:avLst/>
          </a:prstGeom>
          <a:noFill/>
        </p:spPr>
        <p:txBody>
          <a:bodyPr wrap="square" lIns="27432" rIns="27432" tIns="27432" bIns="27432" anchor="t">
            <a:spAutoFit/>
          </a:bodyPr>
          <a:lstStyle/>
          <a:p>
            <a:pPr algn="l">
              <a:spcAft>
                <a:spcPts val="500"/>
              </a:spcAft>
              <a:defRPr sz="900" b="0" i="0">
                <a:solidFill>
                  <a:srgbClr val="B9C9DA"/>
                </a:solidFill>
                <a:latin typeface="Aptos"/>
              </a:defRPr>
            </a:pPr>
            <a:r>
              <a:t>Vellore Institute of Technology  •  Complete personal details before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085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6400800" cy="219456"/>
          </a:xfrm>
          <a:prstGeom prst="rect">
            <a:avLst/>
          </a:prstGeom>
          <a:noFill/>
        </p:spPr>
        <p:txBody>
          <a:bodyPr wrap="square" lIns="27432" rIns="27432" tIns="27432" bIns="27432" anchor="t">
            <a:spAutoFit/>
          </a:bodyPr>
          <a:lstStyle/>
          <a:p>
            <a:pPr algn="l">
              <a:spcAft>
                <a:spcPts val="500"/>
              </a:spcAft>
              <a:defRPr sz="900" b="1" i="0">
                <a:solidFill>
                  <a:srgbClr val="00858B"/>
                </a:solidFill>
                <a:latin typeface="Aptos"/>
              </a:defRPr>
            </a:pPr>
            <a:r>
              <a:t>ADMINISTRATIVE REQUIREMENT</a:t>
            </a:r>
          </a:p>
        </p:txBody>
      </p:sp>
      <p:sp>
        <p:nvSpPr>
          <p:cNvPr id="4" name="TextBox 3"/>
          <p:cNvSpPr txBox="1"/>
          <p:nvPr/>
        </p:nvSpPr>
        <p:spPr>
          <a:xfrm>
            <a:off x="594360" y="566928"/>
            <a:ext cx="10972800" cy="502920"/>
          </a:xfrm>
          <a:prstGeom prst="rect">
            <a:avLst/>
          </a:prstGeom>
          <a:noFill/>
        </p:spPr>
        <p:txBody>
          <a:bodyPr wrap="square" lIns="27432" rIns="27432" tIns="27432" bIns="27432" anchor="t">
            <a:spAutoFit/>
          </a:bodyPr>
          <a:lstStyle/>
          <a:p>
            <a:pPr algn="l">
              <a:spcAft>
                <a:spcPts val="500"/>
              </a:spcAft>
              <a:defRPr sz="2700" b="1" i="0">
                <a:solidFill>
                  <a:srgbClr val="142744"/>
                </a:solidFill>
                <a:latin typeface="Aptos Display"/>
              </a:defRPr>
            </a:pPr>
            <a:r>
              <a:t>Guide Approval</a:t>
            </a:r>
          </a:p>
        </p:txBody>
      </p:sp>
      <p:sp>
        <p:nvSpPr>
          <p:cNvPr id="5" name="Rectangle 4"/>
          <p:cNvSpPr/>
          <p:nvPr/>
        </p:nvSpPr>
        <p:spPr>
          <a:xfrm>
            <a:off x="594360" y="1170432"/>
            <a:ext cx="10972800" cy="16459"/>
          </a:xfrm>
          <a:prstGeom prst="rect">
            <a:avLst/>
          </a:prstGeom>
          <a:solidFill>
            <a:srgbClr val="D8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6547104"/>
            <a:ext cx="7315200" cy="164592"/>
          </a:xfrm>
          <a:prstGeom prst="rect">
            <a:avLst/>
          </a:prstGeom>
          <a:noFill/>
        </p:spPr>
        <p:txBody>
          <a:bodyPr wrap="square" lIns="27432" rIns="27432" tIns="27432" bIns="27432" anchor="t">
            <a:spAutoFit/>
          </a:bodyPr>
          <a:lstStyle/>
          <a:p>
            <a:pPr algn="l">
              <a:spcAft>
                <a:spcPts val="500"/>
              </a:spcAft>
              <a:defRPr sz="800" b="1" i="0">
                <a:solidFill>
                  <a:srgbClr val="626F7E"/>
                </a:solidFill>
                <a:latin typeface="Aptos"/>
              </a:defRPr>
            </a:pPr>
            <a:r>
              <a:t>AI-BASED MUSIC INSTRUMENT RECOGNITION SYSTEM  •  PROJECT REVIEW</a:t>
            </a:r>
          </a:p>
        </p:txBody>
      </p:sp>
      <p:sp>
        <p:nvSpPr>
          <p:cNvPr id="7" name="TextBox 6"/>
          <p:cNvSpPr txBox="1"/>
          <p:nvPr/>
        </p:nvSpPr>
        <p:spPr>
          <a:xfrm>
            <a:off x="11109960" y="6519672"/>
            <a:ext cx="457200" cy="201168"/>
          </a:xfrm>
          <a:prstGeom prst="rect">
            <a:avLst/>
          </a:prstGeom>
          <a:noFill/>
        </p:spPr>
        <p:txBody>
          <a:bodyPr wrap="square" lIns="27432" rIns="27432" tIns="27432" bIns="27432" anchor="t">
            <a:spAutoFit/>
          </a:bodyPr>
          <a:lstStyle/>
          <a:p>
            <a:pPr algn="r">
              <a:spcAft>
                <a:spcPts val="500"/>
              </a:spcAft>
              <a:defRPr sz="800" b="1" i="0">
                <a:solidFill>
                  <a:srgbClr val="626F7E"/>
                </a:solidFill>
                <a:latin typeface="Aptos"/>
              </a:defRPr>
            </a:pPr>
            <a:r>
              <a:t>02 / 14</a:t>
            </a:r>
          </a:p>
        </p:txBody>
      </p:sp>
      <p:sp>
        <p:nvSpPr>
          <p:cNvPr id="8" name="Rounded Rectangle 7"/>
          <p:cNvSpPr/>
          <p:nvPr/>
        </p:nvSpPr>
        <p:spPr>
          <a:xfrm>
            <a:off x="658368" y="1417320"/>
            <a:ext cx="1645920" cy="310896"/>
          </a:xfrm>
          <a:prstGeom prst="roundRect">
            <a:avLst>
              <a:gd name="adj" fmla="val 12000"/>
            </a:avLst>
          </a:prstGeom>
          <a:solidFill>
            <a:srgbClr val="E2F3F1"/>
          </a:solidFill>
          <a:ln w="10160">
            <a:solidFill>
              <a:srgbClr val="E2F3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449324"/>
            <a:ext cx="1554480" cy="201168"/>
          </a:xfrm>
          <a:prstGeom prst="rect">
            <a:avLst/>
          </a:prstGeom>
          <a:noFill/>
        </p:spPr>
        <p:txBody>
          <a:bodyPr wrap="square" lIns="27432" rIns="27432" tIns="27432" bIns="27432" anchor="t">
            <a:spAutoFit/>
          </a:bodyPr>
          <a:lstStyle/>
          <a:p>
            <a:pPr algn="ctr">
              <a:spcAft>
                <a:spcPts val="500"/>
              </a:spcAft>
              <a:defRPr sz="1000" b="1" i="0">
                <a:solidFill>
                  <a:srgbClr val="00858B"/>
                </a:solidFill>
                <a:latin typeface="Aptos"/>
              </a:defRPr>
            </a:pPr>
            <a:r>
              <a:t>INSERT EVIDENCE</a:t>
            </a:r>
          </a:p>
        </p:txBody>
      </p:sp>
      <p:sp>
        <p:nvSpPr>
          <p:cNvPr id="10" name="TextBox 9"/>
          <p:cNvSpPr txBox="1"/>
          <p:nvPr/>
        </p:nvSpPr>
        <p:spPr>
          <a:xfrm>
            <a:off x="685800" y="1901952"/>
            <a:ext cx="4800600" cy="640080"/>
          </a:xfrm>
          <a:prstGeom prst="rect">
            <a:avLst/>
          </a:prstGeom>
          <a:noFill/>
        </p:spPr>
        <p:txBody>
          <a:bodyPr wrap="square" lIns="27432" rIns="27432" tIns="27432" bIns="27432" anchor="t">
            <a:spAutoFit/>
          </a:bodyPr>
          <a:lstStyle/>
          <a:p>
            <a:pPr algn="l">
              <a:spcAft>
                <a:spcPts val="500"/>
              </a:spcAft>
              <a:defRPr sz="2200" b="1" i="0">
                <a:solidFill>
                  <a:srgbClr val="142744"/>
                </a:solidFill>
                <a:latin typeface="Aptos"/>
              </a:defRPr>
            </a:pPr>
            <a:r>
              <a:t>Approval email from faculty guide</a:t>
            </a:r>
          </a:p>
        </p:txBody>
      </p:sp>
      <p:sp>
        <p:nvSpPr>
          <p:cNvPr id="11" name="TextBox 10"/>
          <p:cNvSpPr txBox="1"/>
          <p:nvPr/>
        </p:nvSpPr>
        <p:spPr>
          <a:xfrm>
            <a:off x="685800" y="2670048"/>
            <a:ext cx="4480560" cy="914400"/>
          </a:xfrm>
          <a:prstGeom prst="rect">
            <a:avLst/>
          </a:prstGeom>
          <a:noFill/>
        </p:spPr>
        <p:txBody>
          <a:bodyPr wrap="square" lIns="27432" rIns="27432" tIns="27432" bIns="27432" anchor="t">
            <a:spAutoFit/>
          </a:bodyPr>
          <a:lstStyle/>
          <a:p>
            <a:pPr algn="l">
              <a:spcAft>
                <a:spcPts val="500"/>
              </a:spcAft>
              <a:defRPr sz="1600" b="0" i="0">
                <a:solidFill>
                  <a:srgbClr val="27313E"/>
                </a:solidFill>
                <a:latin typeface="Aptos"/>
              </a:defRPr>
            </a:pPr>
            <a:r>
              <a:t>Insert a clear screenshot showing the sender, approval message, and date. Keep the email legible and crop unrelated inbox details.</a:t>
            </a:r>
          </a:p>
        </p:txBody>
      </p:sp>
      <p:sp>
        <p:nvSpPr>
          <p:cNvPr id="12" name="Rounded Rectangle 11"/>
          <p:cNvSpPr/>
          <p:nvPr/>
        </p:nvSpPr>
        <p:spPr>
          <a:xfrm>
            <a:off x="5806440" y="1572768"/>
            <a:ext cx="5349240" cy="4069080"/>
          </a:xfrm>
          <a:prstGeom prst="roundRect">
            <a:avLst>
              <a:gd name="adj" fmla="val 12000"/>
            </a:avLst>
          </a:prstGeom>
          <a:solidFill>
            <a:srgbClr val="F2F6FA"/>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72200" y="1920240"/>
            <a:ext cx="4617720" cy="365760"/>
          </a:xfrm>
          <a:prstGeom prst="rect">
            <a:avLst/>
          </a:prstGeom>
          <a:noFill/>
        </p:spPr>
        <p:txBody>
          <a:bodyPr wrap="square" lIns="27432" rIns="27432" tIns="27432" bIns="27432" anchor="t">
            <a:spAutoFit/>
          </a:bodyPr>
          <a:lstStyle/>
          <a:p>
            <a:pPr algn="ctr">
              <a:spcAft>
                <a:spcPts val="500"/>
              </a:spcAft>
              <a:defRPr sz="1300" b="1" i="0">
                <a:solidFill>
                  <a:srgbClr val="00858B"/>
                </a:solidFill>
                <a:latin typeface="Aptos"/>
              </a:defRPr>
            </a:pPr>
            <a:r>
              <a:t>EMAIL SCREENSHOT PLACEHOLDER</a:t>
            </a:r>
          </a:p>
        </p:txBody>
      </p:sp>
      <p:sp>
        <p:nvSpPr>
          <p:cNvPr id="14" name="TextBox 13"/>
          <p:cNvSpPr txBox="1"/>
          <p:nvPr/>
        </p:nvSpPr>
        <p:spPr>
          <a:xfrm>
            <a:off x="6400800" y="2743200"/>
            <a:ext cx="4160520" cy="1188720"/>
          </a:xfrm>
          <a:prstGeom prst="rect">
            <a:avLst/>
          </a:prstGeom>
          <a:noFill/>
        </p:spPr>
        <p:txBody>
          <a:bodyPr wrap="square" lIns="27432" rIns="27432" tIns="27432" bIns="27432" anchor="ctr">
            <a:spAutoFit/>
          </a:bodyPr>
          <a:lstStyle/>
          <a:p>
            <a:pPr algn="ctr">
              <a:spcAft>
                <a:spcPts val="500"/>
              </a:spcAft>
              <a:defRPr sz="1600" b="0" i="0">
                <a:solidFill>
                  <a:srgbClr val="626F7E"/>
                </a:solidFill>
                <a:latin typeface="Aptos"/>
              </a:defRPr>
            </a:pPr>
            <a:r>
              <a:t>Place the actual approval email here</a:t>
            </a:r>
          </a:p>
          <a:p>
            <a:pPr algn="ctr">
              <a:spcAft>
                <a:spcPts val="500"/>
              </a:spcAft>
              <a:defRPr sz="1600" b="0" i="0">
                <a:solidFill>
                  <a:srgbClr val="626F7E"/>
                </a:solidFill>
                <a:latin typeface="Aptos"/>
              </a:defRPr>
            </a:pPr>
          </a:p>
          <a:p>
            <a:pPr algn="ctr">
              <a:spcAft>
                <a:spcPts val="500"/>
              </a:spcAft>
              <a:defRPr sz="1600" b="0" i="0">
                <a:solidFill>
                  <a:srgbClr val="626F7E"/>
                </a:solidFill>
                <a:latin typeface="Aptos"/>
              </a:defRPr>
            </a:pPr>
            <a:r>
              <a:t>Do not present this placeholder as approval evidence.</a:t>
            </a:r>
          </a:p>
        </p:txBody>
      </p:sp>
      <p:sp>
        <p:nvSpPr>
          <p:cNvPr id="15" name="TextBox 14"/>
          <p:cNvSpPr txBox="1"/>
          <p:nvPr/>
        </p:nvSpPr>
        <p:spPr>
          <a:xfrm>
            <a:off x="685800" y="5349240"/>
            <a:ext cx="4754880" cy="411480"/>
          </a:xfrm>
          <a:prstGeom prst="rect">
            <a:avLst/>
          </a:prstGeom>
          <a:noFill/>
        </p:spPr>
        <p:txBody>
          <a:bodyPr wrap="square" lIns="27432" rIns="27432" tIns="27432" bIns="27432" anchor="t">
            <a:spAutoFit/>
          </a:bodyPr>
          <a:lstStyle/>
          <a:p>
            <a:pPr algn="l">
              <a:spcAft>
                <a:spcPts val="500"/>
              </a:spcAft>
              <a:defRPr sz="1200" b="0" i="1">
                <a:solidFill>
                  <a:srgbClr val="626F7E"/>
                </a:solidFill>
                <a:latin typeface="Aptos"/>
              </a:defRPr>
            </a:pPr>
            <a:r>
              <a:t>Status: to be completed before final submission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085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6400800" cy="219456"/>
          </a:xfrm>
          <a:prstGeom prst="rect">
            <a:avLst/>
          </a:prstGeom>
          <a:noFill/>
        </p:spPr>
        <p:txBody>
          <a:bodyPr wrap="square" lIns="27432" rIns="27432" tIns="27432" bIns="27432" anchor="t">
            <a:spAutoFit/>
          </a:bodyPr>
          <a:lstStyle/>
          <a:p>
            <a:pPr algn="l">
              <a:spcAft>
                <a:spcPts val="500"/>
              </a:spcAft>
              <a:defRPr sz="900" b="1" i="0">
                <a:solidFill>
                  <a:srgbClr val="00858B"/>
                </a:solidFill>
                <a:latin typeface="Aptos"/>
              </a:defRPr>
            </a:pPr>
            <a:r>
              <a:t>PROJECT OVERVIEW</a:t>
            </a:r>
          </a:p>
        </p:txBody>
      </p:sp>
      <p:sp>
        <p:nvSpPr>
          <p:cNvPr id="4" name="TextBox 3"/>
          <p:cNvSpPr txBox="1"/>
          <p:nvPr/>
        </p:nvSpPr>
        <p:spPr>
          <a:xfrm>
            <a:off x="594360" y="566928"/>
            <a:ext cx="10972800" cy="502920"/>
          </a:xfrm>
          <a:prstGeom prst="rect">
            <a:avLst/>
          </a:prstGeom>
          <a:noFill/>
        </p:spPr>
        <p:txBody>
          <a:bodyPr wrap="square" lIns="27432" rIns="27432" tIns="27432" bIns="27432" anchor="t">
            <a:spAutoFit/>
          </a:bodyPr>
          <a:lstStyle/>
          <a:p>
            <a:pPr algn="l">
              <a:spcAft>
                <a:spcPts val="500"/>
              </a:spcAft>
              <a:defRPr sz="2700" b="1" i="0">
                <a:solidFill>
                  <a:srgbClr val="142744"/>
                </a:solidFill>
                <a:latin typeface="Aptos Display"/>
              </a:defRPr>
            </a:pPr>
            <a:r>
              <a:t>Aim</a:t>
            </a:r>
          </a:p>
        </p:txBody>
      </p:sp>
      <p:sp>
        <p:nvSpPr>
          <p:cNvPr id="5" name="Rectangle 4"/>
          <p:cNvSpPr/>
          <p:nvPr/>
        </p:nvSpPr>
        <p:spPr>
          <a:xfrm>
            <a:off x="594360" y="1170432"/>
            <a:ext cx="10972800" cy="16459"/>
          </a:xfrm>
          <a:prstGeom prst="rect">
            <a:avLst/>
          </a:prstGeom>
          <a:solidFill>
            <a:srgbClr val="D8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6547104"/>
            <a:ext cx="7315200" cy="164592"/>
          </a:xfrm>
          <a:prstGeom prst="rect">
            <a:avLst/>
          </a:prstGeom>
          <a:noFill/>
        </p:spPr>
        <p:txBody>
          <a:bodyPr wrap="square" lIns="27432" rIns="27432" tIns="27432" bIns="27432" anchor="t">
            <a:spAutoFit/>
          </a:bodyPr>
          <a:lstStyle/>
          <a:p>
            <a:pPr algn="l">
              <a:spcAft>
                <a:spcPts val="500"/>
              </a:spcAft>
              <a:defRPr sz="800" b="1" i="0">
                <a:solidFill>
                  <a:srgbClr val="626F7E"/>
                </a:solidFill>
                <a:latin typeface="Aptos"/>
              </a:defRPr>
            </a:pPr>
            <a:r>
              <a:t>AI-BASED MUSIC INSTRUMENT RECOGNITION SYSTEM  •  PROJECT REVIEW</a:t>
            </a:r>
          </a:p>
        </p:txBody>
      </p:sp>
      <p:sp>
        <p:nvSpPr>
          <p:cNvPr id="7" name="TextBox 6"/>
          <p:cNvSpPr txBox="1"/>
          <p:nvPr/>
        </p:nvSpPr>
        <p:spPr>
          <a:xfrm>
            <a:off x="11109960" y="6519672"/>
            <a:ext cx="457200" cy="201168"/>
          </a:xfrm>
          <a:prstGeom prst="rect">
            <a:avLst/>
          </a:prstGeom>
          <a:noFill/>
        </p:spPr>
        <p:txBody>
          <a:bodyPr wrap="square" lIns="27432" rIns="27432" tIns="27432" bIns="27432" anchor="t">
            <a:spAutoFit/>
          </a:bodyPr>
          <a:lstStyle/>
          <a:p>
            <a:pPr algn="r">
              <a:spcAft>
                <a:spcPts val="500"/>
              </a:spcAft>
              <a:defRPr sz="800" b="1" i="0">
                <a:solidFill>
                  <a:srgbClr val="626F7E"/>
                </a:solidFill>
                <a:latin typeface="Aptos"/>
              </a:defRPr>
            </a:pPr>
            <a:r>
              <a:t>03 / 14</a:t>
            </a:r>
          </a:p>
        </p:txBody>
      </p:sp>
      <p:sp>
        <p:nvSpPr>
          <p:cNvPr id="8" name="Rounded Rectangle 7"/>
          <p:cNvSpPr/>
          <p:nvPr/>
        </p:nvSpPr>
        <p:spPr>
          <a:xfrm>
            <a:off x="685800" y="1508760"/>
            <a:ext cx="10789920" cy="1234440"/>
          </a:xfrm>
          <a:prstGeom prst="roundRect">
            <a:avLst>
              <a:gd name="adj" fmla="val 12000"/>
            </a:avLst>
          </a:prstGeom>
          <a:solidFill>
            <a:srgbClr val="E7EFF8"/>
          </a:solidFill>
          <a:ln w="10160">
            <a:solidFill>
              <a:srgbClr val="E7EF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55648"/>
            <a:ext cx="10195560" cy="777240"/>
          </a:xfrm>
          <a:prstGeom prst="rect">
            <a:avLst/>
          </a:prstGeom>
          <a:noFill/>
        </p:spPr>
        <p:txBody>
          <a:bodyPr wrap="square" lIns="27432" rIns="27432" tIns="27432" bIns="27432" anchor="ctr">
            <a:spAutoFit/>
          </a:bodyPr>
          <a:lstStyle/>
          <a:p>
            <a:pPr algn="l">
              <a:spcAft>
                <a:spcPts val="500"/>
              </a:spcAft>
              <a:defRPr sz="2200" b="1" i="0">
                <a:solidFill>
                  <a:srgbClr val="142744"/>
                </a:solidFill>
                <a:latin typeface="Aptos"/>
              </a:defRPr>
            </a:pPr>
            <a:r>
              <a:t>To develop a web-based system that analyses an uploaded music recording and returns interpretable, time-localised instrument similarity scores.</a:t>
            </a:r>
          </a:p>
        </p:txBody>
      </p:sp>
      <p:sp>
        <p:nvSpPr>
          <p:cNvPr id="10" name="Rounded Rectangle 9"/>
          <p:cNvSpPr/>
          <p:nvPr/>
        </p:nvSpPr>
        <p:spPr>
          <a:xfrm>
            <a:off x="685800" y="3063240"/>
            <a:ext cx="3383280" cy="1965960"/>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3063240"/>
            <a:ext cx="64008" cy="1965960"/>
          </a:xfrm>
          <a:prstGeom prst="rect">
            <a:avLst/>
          </a:prstGeom>
          <a:solidFill>
            <a:srgbClr val="2D6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3209544"/>
            <a:ext cx="2999232" cy="310896"/>
          </a:xfrm>
          <a:prstGeom prst="rect">
            <a:avLst/>
          </a:prstGeom>
          <a:noFill/>
        </p:spPr>
        <p:txBody>
          <a:bodyPr wrap="square" lIns="27432" rIns="27432" tIns="27432" bIns="27432" anchor="t">
            <a:spAutoFit/>
          </a:bodyPr>
          <a:lstStyle/>
          <a:p>
            <a:pPr algn="l">
              <a:spcAft>
                <a:spcPts val="500"/>
              </a:spcAft>
              <a:defRPr sz="1600" b="1" i="0">
                <a:solidFill>
                  <a:srgbClr val="142744"/>
                </a:solidFill>
                <a:latin typeface="Aptos"/>
              </a:defRPr>
            </a:pPr>
            <a:r>
              <a:t>01  Audio input</a:t>
            </a:r>
          </a:p>
        </p:txBody>
      </p:sp>
      <p:sp>
        <p:nvSpPr>
          <p:cNvPr id="13" name="TextBox 12"/>
          <p:cNvSpPr txBox="1"/>
          <p:nvPr/>
        </p:nvSpPr>
        <p:spPr>
          <a:xfrm>
            <a:off x="886968" y="3593592"/>
            <a:ext cx="2999232" cy="1307592"/>
          </a:xfrm>
          <a:prstGeom prst="rect">
            <a:avLst/>
          </a:prstGeom>
          <a:noFill/>
        </p:spPr>
        <p:txBody>
          <a:bodyPr wrap="square" lIns="27432" rIns="27432" tIns="27432" bIns="27432" anchor="t">
            <a:spAutoFit/>
          </a:bodyPr>
          <a:lstStyle/>
          <a:p>
            <a:pPr algn="l">
              <a:spcAft>
                <a:spcPts val="500"/>
              </a:spcAft>
              <a:defRPr sz="1500" b="0" i="0">
                <a:solidFill>
                  <a:srgbClr val="27313E"/>
                </a:solidFill>
                <a:latin typeface="Aptos"/>
              </a:defRPr>
            </a:pPr>
            <a:r>
              <a:t>Accept a music file and prepare a standardised audio signal for analysis.</a:t>
            </a:r>
          </a:p>
        </p:txBody>
      </p:sp>
      <p:sp>
        <p:nvSpPr>
          <p:cNvPr id="14" name="Rounded Rectangle 13"/>
          <p:cNvSpPr/>
          <p:nvPr/>
        </p:nvSpPr>
        <p:spPr>
          <a:xfrm>
            <a:off x="4389120" y="3063240"/>
            <a:ext cx="3383280" cy="1965960"/>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3063240"/>
            <a:ext cx="64008" cy="1965960"/>
          </a:xfrm>
          <a:prstGeom prst="rect">
            <a:avLst/>
          </a:prstGeom>
          <a:solidFill>
            <a:srgbClr val="0085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0288" y="3209544"/>
            <a:ext cx="2999232" cy="310896"/>
          </a:xfrm>
          <a:prstGeom prst="rect">
            <a:avLst/>
          </a:prstGeom>
          <a:noFill/>
        </p:spPr>
        <p:txBody>
          <a:bodyPr wrap="square" lIns="27432" rIns="27432" tIns="27432" bIns="27432" anchor="t">
            <a:spAutoFit/>
          </a:bodyPr>
          <a:lstStyle/>
          <a:p>
            <a:pPr algn="l">
              <a:spcAft>
                <a:spcPts val="500"/>
              </a:spcAft>
              <a:defRPr sz="1600" b="1" i="0">
                <a:solidFill>
                  <a:srgbClr val="142744"/>
                </a:solidFill>
                <a:latin typeface="Aptos"/>
              </a:defRPr>
            </a:pPr>
            <a:r>
              <a:t>02  Instrument evidence</a:t>
            </a:r>
          </a:p>
        </p:txBody>
      </p:sp>
      <p:sp>
        <p:nvSpPr>
          <p:cNvPr id="17" name="TextBox 16"/>
          <p:cNvSpPr txBox="1"/>
          <p:nvPr/>
        </p:nvSpPr>
        <p:spPr>
          <a:xfrm>
            <a:off x="4590288" y="3593592"/>
            <a:ext cx="2999232" cy="1307592"/>
          </a:xfrm>
          <a:prstGeom prst="rect">
            <a:avLst/>
          </a:prstGeom>
          <a:noFill/>
        </p:spPr>
        <p:txBody>
          <a:bodyPr wrap="square" lIns="27432" rIns="27432" tIns="27432" bIns="27432" anchor="t">
            <a:spAutoFit/>
          </a:bodyPr>
          <a:lstStyle/>
          <a:p>
            <a:pPr algn="l">
              <a:spcAft>
                <a:spcPts val="500"/>
              </a:spcAft>
              <a:defRPr sz="1500" b="0" i="0">
                <a:solidFill>
                  <a:srgbClr val="27313E"/>
                </a:solidFill>
                <a:latin typeface="Aptos"/>
              </a:defRPr>
            </a:pPr>
            <a:r>
              <a:t>Separate an instrumental stem and compare short audio windows with text prompts using CLAP.</a:t>
            </a:r>
          </a:p>
        </p:txBody>
      </p:sp>
      <p:sp>
        <p:nvSpPr>
          <p:cNvPr id="18" name="Rounded Rectangle 17"/>
          <p:cNvSpPr/>
          <p:nvPr/>
        </p:nvSpPr>
        <p:spPr>
          <a:xfrm>
            <a:off x="8092440" y="3063240"/>
            <a:ext cx="3383280" cy="1965960"/>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92440" y="3063240"/>
            <a:ext cx="64008" cy="1965960"/>
          </a:xfrm>
          <a:prstGeom prst="rect">
            <a:avLst/>
          </a:prstGeom>
          <a:solidFill>
            <a:srgbClr val="CE9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3209544"/>
            <a:ext cx="2999232" cy="310896"/>
          </a:xfrm>
          <a:prstGeom prst="rect">
            <a:avLst/>
          </a:prstGeom>
          <a:noFill/>
        </p:spPr>
        <p:txBody>
          <a:bodyPr wrap="square" lIns="27432" rIns="27432" tIns="27432" bIns="27432" anchor="t">
            <a:spAutoFit/>
          </a:bodyPr>
          <a:lstStyle/>
          <a:p>
            <a:pPr algn="l">
              <a:spcAft>
                <a:spcPts val="500"/>
              </a:spcAft>
              <a:defRPr sz="1600" b="1" i="0">
                <a:solidFill>
                  <a:srgbClr val="142744"/>
                </a:solidFill>
                <a:latin typeface="Aptos"/>
              </a:defRPr>
            </a:pPr>
            <a:r>
              <a:t>03  Explainable output</a:t>
            </a:r>
          </a:p>
        </p:txBody>
      </p:sp>
      <p:sp>
        <p:nvSpPr>
          <p:cNvPr id="21" name="TextBox 20"/>
          <p:cNvSpPr txBox="1"/>
          <p:nvPr/>
        </p:nvSpPr>
        <p:spPr>
          <a:xfrm>
            <a:off x="8293608" y="3593592"/>
            <a:ext cx="2999232" cy="1307592"/>
          </a:xfrm>
          <a:prstGeom prst="rect">
            <a:avLst/>
          </a:prstGeom>
          <a:noFill/>
        </p:spPr>
        <p:txBody>
          <a:bodyPr wrap="square" lIns="27432" rIns="27432" tIns="27432" bIns="27432" anchor="t">
            <a:spAutoFit/>
          </a:bodyPr>
          <a:lstStyle/>
          <a:p>
            <a:pPr algn="l">
              <a:spcAft>
                <a:spcPts val="500"/>
              </a:spcAft>
              <a:defRPr sz="1500" b="0" i="0">
                <a:solidFill>
                  <a:srgbClr val="27313E"/>
                </a:solidFill>
                <a:latin typeface="Aptos"/>
              </a:defRPr>
            </a:pPr>
            <a:r>
              <a:t>Aggregate window scores and present instrument evidence across the recording.</a:t>
            </a:r>
          </a:p>
        </p:txBody>
      </p:sp>
      <p:sp>
        <p:nvSpPr>
          <p:cNvPr id="22" name="TextBox 21"/>
          <p:cNvSpPr txBox="1"/>
          <p:nvPr/>
        </p:nvSpPr>
        <p:spPr>
          <a:xfrm>
            <a:off x="731520" y="5486400"/>
            <a:ext cx="10607040" cy="411480"/>
          </a:xfrm>
          <a:prstGeom prst="rect">
            <a:avLst/>
          </a:prstGeom>
          <a:noFill/>
        </p:spPr>
        <p:txBody>
          <a:bodyPr wrap="square" lIns="27432" rIns="27432" tIns="27432" bIns="27432" anchor="t">
            <a:spAutoFit/>
          </a:bodyPr>
          <a:lstStyle/>
          <a:p>
            <a:pPr algn="l">
              <a:spcAft>
                <a:spcPts val="500"/>
              </a:spcAft>
              <a:defRPr sz="1100" b="0" i="1">
                <a:solidFill>
                  <a:srgbClr val="626F7E"/>
                </a:solidFill>
                <a:latin typeface="Aptos"/>
              </a:defRPr>
            </a:pPr>
            <a:r>
              <a:t>Scope note: genre, mood, similarity retrieval, and artist-style inference are complementary MIR directions—not confirmed components of the primary API workflow.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085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6400800" cy="219456"/>
          </a:xfrm>
          <a:prstGeom prst="rect">
            <a:avLst/>
          </a:prstGeom>
          <a:noFill/>
        </p:spPr>
        <p:txBody>
          <a:bodyPr wrap="square" lIns="27432" rIns="27432" tIns="27432" bIns="27432" anchor="t">
            <a:spAutoFit/>
          </a:bodyPr>
          <a:lstStyle/>
          <a:p>
            <a:pPr algn="l">
              <a:spcAft>
                <a:spcPts val="500"/>
              </a:spcAft>
              <a:defRPr sz="900" b="1" i="0">
                <a:solidFill>
                  <a:srgbClr val="00858B"/>
                </a:solidFill>
                <a:latin typeface="Aptos"/>
              </a:defRPr>
            </a:pPr>
            <a:r>
              <a:t>PROJECT OVERVIEW</a:t>
            </a:r>
          </a:p>
        </p:txBody>
      </p:sp>
      <p:sp>
        <p:nvSpPr>
          <p:cNvPr id="4" name="TextBox 3"/>
          <p:cNvSpPr txBox="1"/>
          <p:nvPr/>
        </p:nvSpPr>
        <p:spPr>
          <a:xfrm>
            <a:off x="594360" y="566928"/>
            <a:ext cx="10972800" cy="502920"/>
          </a:xfrm>
          <a:prstGeom prst="rect">
            <a:avLst/>
          </a:prstGeom>
          <a:noFill/>
        </p:spPr>
        <p:txBody>
          <a:bodyPr wrap="square" lIns="27432" rIns="27432" tIns="27432" bIns="27432" anchor="t">
            <a:spAutoFit/>
          </a:bodyPr>
          <a:lstStyle/>
          <a:p>
            <a:pPr algn="l">
              <a:spcAft>
                <a:spcPts val="500"/>
              </a:spcAft>
              <a:defRPr sz="2700" b="1" i="0">
                <a:solidFill>
                  <a:srgbClr val="142744"/>
                </a:solidFill>
                <a:latin typeface="Aptos Display"/>
              </a:defRPr>
            </a:pPr>
            <a:r>
              <a:t>Abstract</a:t>
            </a:r>
          </a:p>
        </p:txBody>
      </p:sp>
      <p:sp>
        <p:nvSpPr>
          <p:cNvPr id="5" name="Rectangle 4"/>
          <p:cNvSpPr/>
          <p:nvPr/>
        </p:nvSpPr>
        <p:spPr>
          <a:xfrm>
            <a:off x="594360" y="1170432"/>
            <a:ext cx="10972800" cy="16459"/>
          </a:xfrm>
          <a:prstGeom prst="rect">
            <a:avLst/>
          </a:prstGeom>
          <a:solidFill>
            <a:srgbClr val="D8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6547104"/>
            <a:ext cx="7315200" cy="164592"/>
          </a:xfrm>
          <a:prstGeom prst="rect">
            <a:avLst/>
          </a:prstGeom>
          <a:noFill/>
        </p:spPr>
        <p:txBody>
          <a:bodyPr wrap="square" lIns="27432" rIns="27432" tIns="27432" bIns="27432" anchor="t">
            <a:spAutoFit/>
          </a:bodyPr>
          <a:lstStyle/>
          <a:p>
            <a:pPr algn="l">
              <a:spcAft>
                <a:spcPts val="500"/>
              </a:spcAft>
              <a:defRPr sz="800" b="1" i="0">
                <a:solidFill>
                  <a:srgbClr val="626F7E"/>
                </a:solidFill>
                <a:latin typeface="Aptos"/>
              </a:defRPr>
            </a:pPr>
            <a:r>
              <a:t>AI-BASED MUSIC INSTRUMENT RECOGNITION SYSTEM  •  PROJECT REVIEW</a:t>
            </a:r>
          </a:p>
        </p:txBody>
      </p:sp>
      <p:sp>
        <p:nvSpPr>
          <p:cNvPr id="7" name="TextBox 6"/>
          <p:cNvSpPr txBox="1"/>
          <p:nvPr/>
        </p:nvSpPr>
        <p:spPr>
          <a:xfrm>
            <a:off x="11109960" y="6519672"/>
            <a:ext cx="457200" cy="201168"/>
          </a:xfrm>
          <a:prstGeom prst="rect">
            <a:avLst/>
          </a:prstGeom>
          <a:noFill/>
        </p:spPr>
        <p:txBody>
          <a:bodyPr wrap="square" lIns="27432" rIns="27432" tIns="27432" bIns="27432" anchor="t">
            <a:spAutoFit/>
          </a:bodyPr>
          <a:lstStyle/>
          <a:p>
            <a:pPr algn="r">
              <a:spcAft>
                <a:spcPts val="500"/>
              </a:spcAft>
              <a:defRPr sz="800" b="1" i="0">
                <a:solidFill>
                  <a:srgbClr val="626F7E"/>
                </a:solidFill>
                <a:latin typeface="Aptos"/>
              </a:defRPr>
            </a:pPr>
            <a:r>
              <a:t>04 / 14</a:t>
            </a:r>
          </a:p>
        </p:txBody>
      </p:sp>
      <p:sp>
        <p:nvSpPr>
          <p:cNvPr id="8" name="Rounded Rectangle 7"/>
          <p:cNvSpPr/>
          <p:nvPr/>
        </p:nvSpPr>
        <p:spPr>
          <a:xfrm>
            <a:off x="713232" y="1481328"/>
            <a:ext cx="7360920" cy="4526280"/>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37360"/>
            <a:ext cx="6812280" cy="4023360"/>
          </a:xfrm>
          <a:prstGeom prst="rect">
            <a:avLst/>
          </a:prstGeom>
          <a:noFill/>
        </p:spPr>
        <p:txBody>
          <a:bodyPr wrap="square" lIns="27432" rIns="27432" tIns="27432" bIns="27432" anchor="t">
            <a:spAutoFit/>
          </a:bodyPr>
          <a:lstStyle/>
          <a:p>
            <a:pPr algn="l">
              <a:spcAft>
                <a:spcPts val="500"/>
              </a:spcAft>
              <a:defRPr sz="1600" b="0" i="0">
                <a:solidFill>
                  <a:srgbClr val="27313E"/>
                </a:solidFill>
                <a:latin typeface="Aptos"/>
              </a:defRPr>
            </a:pPr>
            <a:r>
              <a:t>Music recordings often contain overlapping sound sources, which makes instrument identification difficult.  This project implements a web-based analysis workflow with a React frontend and a FastAPI backend. Uploaded MP3, WAV, or FLAC files are validated, decoded as mono audio at 48 kHz, and processed using Demucs source separation. The selected `other.wav` stem is divided into one-second windows, which are compared against instrument text prompts using the pretrained `laion/clap-htsat-unfused` model. Window-level scores are aggregated into song-level similarity indices, alongside temporal evidence and coverage information. The system demonstrates an end-to-end software integration of audio preparation, source separation, model inference, aggregation, and result delivery. The reported scores are similarity measures—not calibrated probabilities or physical estimates of each instrument’s contribution. Quantitative accuracy and generalisation remain to be established through a labelled evaluation set.</a:t>
            </a:r>
          </a:p>
        </p:txBody>
      </p:sp>
      <p:sp>
        <p:nvSpPr>
          <p:cNvPr id="10" name="Rounded Rectangle 9"/>
          <p:cNvSpPr/>
          <p:nvPr/>
        </p:nvSpPr>
        <p:spPr>
          <a:xfrm>
            <a:off x="8366760" y="1508760"/>
            <a:ext cx="3063240" cy="1234440"/>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66760" y="1508760"/>
            <a:ext cx="64008" cy="1234440"/>
          </a:xfrm>
          <a:prstGeom prst="rect">
            <a:avLst/>
          </a:prstGeom>
          <a:solidFill>
            <a:srgbClr val="2D6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67928" y="1655063"/>
            <a:ext cx="2679192" cy="310896"/>
          </a:xfrm>
          <a:prstGeom prst="rect">
            <a:avLst/>
          </a:prstGeom>
          <a:noFill/>
        </p:spPr>
        <p:txBody>
          <a:bodyPr wrap="square" lIns="27432" rIns="27432" tIns="27432" bIns="27432" anchor="t">
            <a:spAutoFit/>
          </a:bodyPr>
          <a:lstStyle/>
          <a:p>
            <a:pPr algn="l">
              <a:spcAft>
                <a:spcPts val="500"/>
              </a:spcAft>
              <a:defRPr sz="1600" b="1" i="0">
                <a:solidFill>
                  <a:srgbClr val="142744"/>
                </a:solidFill>
                <a:latin typeface="Aptos"/>
              </a:defRPr>
            </a:pPr>
            <a:r>
              <a:t>Frontend</a:t>
            </a:r>
          </a:p>
        </p:txBody>
      </p:sp>
      <p:sp>
        <p:nvSpPr>
          <p:cNvPr id="13" name="TextBox 12"/>
          <p:cNvSpPr txBox="1"/>
          <p:nvPr/>
        </p:nvSpPr>
        <p:spPr>
          <a:xfrm>
            <a:off x="8567928" y="2039112"/>
            <a:ext cx="2679192" cy="576072"/>
          </a:xfrm>
          <a:prstGeom prst="rect">
            <a:avLst/>
          </a:prstGeom>
          <a:noFill/>
        </p:spPr>
        <p:txBody>
          <a:bodyPr wrap="square" lIns="27432" rIns="27432" tIns="27432" bIns="27432" anchor="t">
            <a:spAutoFit/>
          </a:bodyPr>
          <a:lstStyle/>
          <a:p>
            <a:pPr algn="l">
              <a:spcAft>
                <a:spcPts val="500"/>
              </a:spcAft>
              <a:defRPr sz="1300" b="0" i="0">
                <a:solidFill>
                  <a:srgbClr val="27313E"/>
                </a:solidFill>
                <a:latin typeface="Aptos"/>
              </a:defRPr>
            </a:pPr>
            <a:r>
              <a:t>React upload and results interface</a:t>
            </a:r>
          </a:p>
        </p:txBody>
      </p:sp>
      <p:sp>
        <p:nvSpPr>
          <p:cNvPr id="14" name="Rounded Rectangle 13"/>
          <p:cNvSpPr/>
          <p:nvPr/>
        </p:nvSpPr>
        <p:spPr>
          <a:xfrm>
            <a:off x="8366760" y="2926080"/>
            <a:ext cx="3063240" cy="1234440"/>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66760" y="2926080"/>
            <a:ext cx="64008" cy="1234440"/>
          </a:xfrm>
          <a:prstGeom prst="rect">
            <a:avLst/>
          </a:prstGeom>
          <a:solidFill>
            <a:srgbClr val="0085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67928" y="3072384"/>
            <a:ext cx="2679192" cy="310896"/>
          </a:xfrm>
          <a:prstGeom prst="rect">
            <a:avLst/>
          </a:prstGeom>
          <a:noFill/>
        </p:spPr>
        <p:txBody>
          <a:bodyPr wrap="square" lIns="27432" rIns="27432" tIns="27432" bIns="27432" anchor="t">
            <a:spAutoFit/>
          </a:bodyPr>
          <a:lstStyle/>
          <a:p>
            <a:pPr algn="l">
              <a:spcAft>
                <a:spcPts val="500"/>
              </a:spcAft>
              <a:defRPr sz="1600" b="1" i="0">
                <a:solidFill>
                  <a:srgbClr val="142744"/>
                </a:solidFill>
                <a:latin typeface="Aptos"/>
              </a:defRPr>
            </a:pPr>
            <a:r>
              <a:t>Backend</a:t>
            </a:r>
          </a:p>
        </p:txBody>
      </p:sp>
      <p:sp>
        <p:nvSpPr>
          <p:cNvPr id="17" name="TextBox 16"/>
          <p:cNvSpPr txBox="1"/>
          <p:nvPr/>
        </p:nvSpPr>
        <p:spPr>
          <a:xfrm>
            <a:off x="8567928" y="3456432"/>
            <a:ext cx="2679192" cy="576072"/>
          </a:xfrm>
          <a:prstGeom prst="rect">
            <a:avLst/>
          </a:prstGeom>
          <a:noFill/>
        </p:spPr>
        <p:txBody>
          <a:bodyPr wrap="square" lIns="27432" rIns="27432" tIns="27432" bIns="27432" anchor="t">
            <a:spAutoFit/>
          </a:bodyPr>
          <a:lstStyle/>
          <a:p>
            <a:pPr algn="l">
              <a:spcAft>
                <a:spcPts val="500"/>
              </a:spcAft>
              <a:defRPr sz="1300" b="0" i="0">
                <a:solidFill>
                  <a:srgbClr val="27313E"/>
                </a:solidFill>
                <a:latin typeface="Aptos"/>
              </a:defRPr>
            </a:pPr>
            <a:r>
              <a:t>FastAPI orchestration and validation</a:t>
            </a:r>
          </a:p>
        </p:txBody>
      </p:sp>
      <p:sp>
        <p:nvSpPr>
          <p:cNvPr id="18" name="Rounded Rectangle 17"/>
          <p:cNvSpPr/>
          <p:nvPr/>
        </p:nvSpPr>
        <p:spPr>
          <a:xfrm>
            <a:off x="8366760" y="4343400"/>
            <a:ext cx="3063240" cy="1234440"/>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66760" y="4343400"/>
            <a:ext cx="64008" cy="1234440"/>
          </a:xfrm>
          <a:prstGeom prst="rect">
            <a:avLst/>
          </a:prstGeom>
          <a:solidFill>
            <a:srgbClr val="CE9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67928" y="4489704"/>
            <a:ext cx="2679192" cy="310896"/>
          </a:xfrm>
          <a:prstGeom prst="rect">
            <a:avLst/>
          </a:prstGeom>
          <a:noFill/>
        </p:spPr>
        <p:txBody>
          <a:bodyPr wrap="square" lIns="27432" rIns="27432" tIns="27432" bIns="27432" anchor="t">
            <a:spAutoFit/>
          </a:bodyPr>
          <a:lstStyle/>
          <a:p>
            <a:pPr algn="l">
              <a:spcAft>
                <a:spcPts val="500"/>
              </a:spcAft>
              <a:defRPr sz="1600" b="1" i="0">
                <a:solidFill>
                  <a:srgbClr val="142744"/>
                </a:solidFill>
                <a:latin typeface="Aptos"/>
              </a:defRPr>
            </a:pPr>
            <a:r>
              <a:t>Inference</a:t>
            </a:r>
          </a:p>
        </p:txBody>
      </p:sp>
      <p:sp>
        <p:nvSpPr>
          <p:cNvPr id="21" name="TextBox 20"/>
          <p:cNvSpPr txBox="1"/>
          <p:nvPr/>
        </p:nvSpPr>
        <p:spPr>
          <a:xfrm>
            <a:off x="8567928" y="4873752"/>
            <a:ext cx="2679192" cy="576072"/>
          </a:xfrm>
          <a:prstGeom prst="rect">
            <a:avLst/>
          </a:prstGeom>
          <a:noFill/>
        </p:spPr>
        <p:txBody>
          <a:bodyPr wrap="square" lIns="27432" rIns="27432" tIns="27432" bIns="27432" anchor="t">
            <a:spAutoFit/>
          </a:bodyPr>
          <a:lstStyle/>
          <a:p>
            <a:pPr algn="l">
              <a:spcAft>
                <a:spcPts val="500"/>
              </a:spcAft>
              <a:defRPr sz="1300" b="0" i="0">
                <a:solidFill>
                  <a:srgbClr val="27313E"/>
                </a:solidFill>
                <a:latin typeface="Aptos"/>
              </a:defRPr>
            </a:pPr>
            <a:r>
              <a:t>Demucs + pretrained CLAP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085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6400800" cy="219456"/>
          </a:xfrm>
          <a:prstGeom prst="rect">
            <a:avLst/>
          </a:prstGeom>
          <a:noFill/>
        </p:spPr>
        <p:txBody>
          <a:bodyPr wrap="square" lIns="27432" rIns="27432" tIns="27432" bIns="27432" anchor="t">
            <a:spAutoFit/>
          </a:bodyPr>
          <a:lstStyle/>
          <a:p>
            <a:pPr algn="l">
              <a:spcAft>
                <a:spcPts val="500"/>
              </a:spcAft>
              <a:defRPr sz="900" b="1" i="0">
                <a:solidFill>
                  <a:srgbClr val="00858B"/>
                </a:solidFill>
                <a:latin typeface="Aptos"/>
              </a:defRPr>
            </a:pPr>
            <a:r>
              <a:t>BACKGROUND</a:t>
            </a:r>
          </a:p>
        </p:txBody>
      </p:sp>
      <p:sp>
        <p:nvSpPr>
          <p:cNvPr id="4" name="TextBox 3"/>
          <p:cNvSpPr txBox="1"/>
          <p:nvPr/>
        </p:nvSpPr>
        <p:spPr>
          <a:xfrm>
            <a:off x="594360" y="566928"/>
            <a:ext cx="10972800" cy="502920"/>
          </a:xfrm>
          <a:prstGeom prst="rect">
            <a:avLst/>
          </a:prstGeom>
          <a:noFill/>
        </p:spPr>
        <p:txBody>
          <a:bodyPr wrap="square" lIns="27432" rIns="27432" tIns="27432" bIns="27432" anchor="t">
            <a:spAutoFit/>
          </a:bodyPr>
          <a:lstStyle/>
          <a:p>
            <a:pPr algn="l">
              <a:spcAft>
                <a:spcPts val="500"/>
              </a:spcAft>
              <a:defRPr sz="2700" b="1" i="0">
                <a:solidFill>
                  <a:srgbClr val="142744"/>
                </a:solidFill>
                <a:latin typeface="Aptos Display"/>
              </a:defRPr>
            </a:pPr>
            <a:r>
              <a:t>Literature Review</a:t>
            </a:r>
          </a:p>
        </p:txBody>
      </p:sp>
      <p:sp>
        <p:nvSpPr>
          <p:cNvPr id="5" name="Rectangle 4"/>
          <p:cNvSpPr/>
          <p:nvPr/>
        </p:nvSpPr>
        <p:spPr>
          <a:xfrm>
            <a:off x="594360" y="1170432"/>
            <a:ext cx="10972800" cy="16459"/>
          </a:xfrm>
          <a:prstGeom prst="rect">
            <a:avLst/>
          </a:prstGeom>
          <a:solidFill>
            <a:srgbClr val="D8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6547104"/>
            <a:ext cx="7315200" cy="164592"/>
          </a:xfrm>
          <a:prstGeom prst="rect">
            <a:avLst/>
          </a:prstGeom>
          <a:noFill/>
        </p:spPr>
        <p:txBody>
          <a:bodyPr wrap="square" lIns="27432" rIns="27432" tIns="27432" bIns="27432" anchor="t">
            <a:spAutoFit/>
          </a:bodyPr>
          <a:lstStyle/>
          <a:p>
            <a:pPr algn="l">
              <a:spcAft>
                <a:spcPts val="500"/>
              </a:spcAft>
              <a:defRPr sz="800" b="1" i="0">
                <a:solidFill>
                  <a:srgbClr val="626F7E"/>
                </a:solidFill>
                <a:latin typeface="Aptos"/>
              </a:defRPr>
            </a:pPr>
            <a:r>
              <a:t>AI-BASED MUSIC INSTRUMENT RECOGNITION SYSTEM  •  PROJECT REVIEW</a:t>
            </a:r>
          </a:p>
        </p:txBody>
      </p:sp>
      <p:sp>
        <p:nvSpPr>
          <p:cNvPr id="7" name="TextBox 6"/>
          <p:cNvSpPr txBox="1"/>
          <p:nvPr/>
        </p:nvSpPr>
        <p:spPr>
          <a:xfrm>
            <a:off x="11109960" y="6519672"/>
            <a:ext cx="457200" cy="201168"/>
          </a:xfrm>
          <a:prstGeom prst="rect">
            <a:avLst/>
          </a:prstGeom>
          <a:noFill/>
        </p:spPr>
        <p:txBody>
          <a:bodyPr wrap="square" lIns="27432" rIns="27432" tIns="27432" bIns="27432" anchor="t">
            <a:spAutoFit/>
          </a:bodyPr>
          <a:lstStyle/>
          <a:p>
            <a:pPr algn="r">
              <a:spcAft>
                <a:spcPts val="500"/>
              </a:spcAft>
              <a:defRPr sz="800" b="1" i="0">
                <a:solidFill>
                  <a:srgbClr val="626F7E"/>
                </a:solidFill>
                <a:latin typeface="Aptos"/>
              </a:defRPr>
            </a:pPr>
            <a:r>
              <a:t>05 / 14</a:t>
            </a:r>
          </a:p>
        </p:txBody>
      </p:sp>
      <p:sp>
        <p:nvSpPr>
          <p:cNvPr id="8" name="Rounded Rectangle 7"/>
          <p:cNvSpPr/>
          <p:nvPr/>
        </p:nvSpPr>
        <p:spPr>
          <a:xfrm>
            <a:off x="685800" y="1508760"/>
            <a:ext cx="5257800" cy="1828800"/>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508760"/>
            <a:ext cx="64008" cy="1828800"/>
          </a:xfrm>
          <a:prstGeom prst="rect">
            <a:avLst/>
          </a:prstGeom>
          <a:solidFill>
            <a:srgbClr val="2D6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1655063"/>
            <a:ext cx="4873752" cy="310896"/>
          </a:xfrm>
          <a:prstGeom prst="rect">
            <a:avLst/>
          </a:prstGeom>
          <a:noFill/>
        </p:spPr>
        <p:txBody>
          <a:bodyPr wrap="square" lIns="27432" rIns="27432" tIns="27432" bIns="27432" anchor="t">
            <a:spAutoFit/>
          </a:bodyPr>
          <a:lstStyle/>
          <a:p>
            <a:pPr algn="l">
              <a:spcAft>
                <a:spcPts val="500"/>
              </a:spcAft>
              <a:defRPr sz="1600" b="1" i="0">
                <a:solidFill>
                  <a:srgbClr val="142744"/>
                </a:solidFill>
                <a:latin typeface="Aptos"/>
              </a:defRPr>
            </a:pPr>
            <a:r>
              <a:t>CLAP — Audio–Text Representation</a:t>
            </a:r>
          </a:p>
        </p:txBody>
      </p:sp>
      <p:sp>
        <p:nvSpPr>
          <p:cNvPr id="11" name="TextBox 10"/>
          <p:cNvSpPr txBox="1"/>
          <p:nvPr/>
        </p:nvSpPr>
        <p:spPr>
          <a:xfrm>
            <a:off x="886968" y="2039112"/>
            <a:ext cx="4873752" cy="1170432"/>
          </a:xfrm>
          <a:prstGeom prst="rect">
            <a:avLst/>
          </a:prstGeom>
          <a:noFill/>
        </p:spPr>
        <p:txBody>
          <a:bodyPr wrap="square" lIns="27432" rIns="27432" tIns="27432" bIns="27432" anchor="t">
            <a:spAutoFit/>
          </a:bodyPr>
          <a:lstStyle/>
          <a:p>
            <a:pPr algn="l">
              <a:spcAft>
                <a:spcPts val="500"/>
              </a:spcAft>
              <a:defRPr sz="1400" b="0" i="0">
                <a:solidFill>
                  <a:srgbClr val="27313E"/>
                </a:solidFill>
                <a:latin typeface="Aptos"/>
              </a:defRPr>
            </a:pPr>
            <a:r>
              <a:t>Contrastive audio–text models map audio and text into a shared representation space. This project uses text prompts to obtain instrument similarity scores.</a:t>
            </a:r>
          </a:p>
        </p:txBody>
      </p:sp>
      <p:sp>
        <p:nvSpPr>
          <p:cNvPr id="12" name="Rounded Rectangle 11"/>
          <p:cNvSpPr/>
          <p:nvPr/>
        </p:nvSpPr>
        <p:spPr>
          <a:xfrm>
            <a:off x="6217920" y="1508760"/>
            <a:ext cx="5257800" cy="1828800"/>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508760"/>
            <a:ext cx="64008" cy="1828800"/>
          </a:xfrm>
          <a:prstGeom prst="rect">
            <a:avLst/>
          </a:prstGeom>
          <a:solidFill>
            <a:srgbClr val="0085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1655063"/>
            <a:ext cx="4873752" cy="310896"/>
          </a:xfrm>
          <a:prstGeom prst="rect">
            <a:avLst/>
          </a:prstGeom>
          <a:noFill/>
        </p:spPr>
        <p:txBody>
          <a:bodyPr wrap="square" lIns="27432" rIns="27432" tIns="27432" bIns="27432" anchor="t">
            <a:spAutoFit/>
          </a:bodyPr>
          <a:lstStyle/>
          <a:p>
            <a:pPr algn="l">
              <a:spcAft>
                <a:spcPts val="500"/>
              </a:spcAft>
              <a:defRPr sz="1600" b="1" i="0">
                <a:solidFill>
                  <a:srgbClr val="142744"/>
                </a:solidFill>
                <a:latin typeface="Aptos"/>
              </a:defRPr>
            </a:pPr>
            <a:r>
              <a:t>Demucs — Music Source Separation</a:t>
            </a:r>
          </a:p>
        </p:txBody>
      </p:sp>
      <p:sp>
        <p:nvSpPr>
          <p:cNvPr id="15" name="TextBox 14"/>
          <p:cNvSpPr txBox="1"/>
          <p:nvPr/>
        </p:nvSpPr>
        <p:spPr>
          <a:xfrm>
            <a:off x="6419088" y="2039112"/>
            <a:ext cx="4873752" cy="1170432"/>
          </a:xfrm>
          <a:prstGeom prst="rect">
            <a:avLst/>
          </a:prstGeom>
          <a:noFill/>
        </p:spPr>
        <p:txBody>
          <a:bodyPr wrap="square" lIns="27432" rIns="27432" tIns="27432" bIns="27432" anchor="t">
            <a:spAutoFit/>
          </a:bodyPr>
          <a:lstStyle/>
          <a:p>
            <a:pPr algn="l">
              <a:spcAft>
                <a:spcPts val="500"/>
              </a:spcAft>
              <a:defRPr sz="1400" b="0" i="0">
                <a:solidFill>
                  <a:srgbClr val="27313E"/>
                </a:solidFill>
                <a:latin typeface="Aptos"/>
              </a:defRPr>
            </a:pPr>
            <a:r>
              <a:t>Source separation estimates stems from a mixture. Separation can improve downstream analysis, but residual interference may remain.</a:t>
            </a:r>
          </a:p>
        </p:txBody>
      </p:sp>
      <p:sp>
        <p:nvSpPr>
          <p:cNvPr id="16" name="Rounded Rectangle 15"/>
          <p:cNvSpPr/>
          <p:nvPr/>
        </p:nvSpPr>
        <p:spPr>
          <a:xfrm>
            <a:off x="685800" y="3611880"/>
            <a:ext cx="5257800" cy="1828800"/>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 y="3611880"/>
            <a:ext cx="64008" cy="1828800"/>
          </a:xfrm>
          <a:prstGeom prst="rect">
            <a:avLst/>
          </a:prstGeom>
          <a:solidFill>
            <a:srgbClr val="CE9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3758184"/>
            <a:ext cx="4873752" cy="310896"/>
          </a:xfrm>
          <a:prstGeom prst="rect">
            <a:avLst/>
          </a:prstGeom>
          <a:noFill/>
        </p:spPr>
        <p:txBody>
          <a:bodyPr wrap="square" lIns="27432" rIns="27432" tIns="27432" bIns="27432" anchor="t">
            <a:spAutoFit/>
          </a:bodyPr>
          <a:lstStyle/>
          <a:p>
            <a:pPr algn="l">
              <a:spcAft>
                <a:spcPts val="500"/>
              </a:spcAft>
              <a:defRPr sz="1600" b="1" i="0">
                <a:solidFill>
                  <a:srgbClr val="142744"/>
                </a:solidFill>
                <a:latin typeface="Aptos"/>
              </a:defRPr>
            </a:pPr>
            <a:r>
              <a:t>Librosa — Audio Analysis</a:t>
            </a:r>
          </a:p>
        </p:txBody>
      </p:sp>
      <p:sp>
        <p:nvSpPr>
          <p:cNvPr id="19" name="TextBox 18"/>
          <p:cNvSpPr txBox="1"/>
          <p:nvPr/>
        </p:nvSpPr>
        <p:spPr>
          <a:xfrm>
            <a:off x="886968" y="4142232"/>
            <a:ext cx="4873752" cy="1170432"/>
          </a:xfrm>
          <a:prstGeom prst="rect">
            <a:avLst/>
          </a:prstGeom>
          <a:noFill/>
        </p:spPr>
        <p:txBody>
          <a:bodyPr wrap="square" lIns="27432" rIns="27432" tIns="27432" bIns="27432" anchor="t">
            <a:spAutoFit/>
          </a:bodyPr>
          <a:lstStyle/>
          <a:p>
            <a:pPr algn="l">
              <a:spcAft>
                <a:spcPts val="500"/>
              </a:spcAft>
              <a:defRPr sz="1400" b="0" i="0">
                <a:solidFill>
                  <a:srgbClr val="27313E"/>
                </a:solidFill>
                <a:latin typeface="Aptos"/>
              </a:defRPr>
            </a:pPr>
            <a:r>
              <a:t>Provides audio loading and signal-processing utilities useful for decoding, resampling, and extracting music-related features.</a:t>
            </a:r>
          </a:p>
        </p:txBody>
      </p:sp>
      <p:sp>
        <p:nvSpPr>
          <p:cNvPr id="20" name="Rounded Rectangle 19"/>
          <p:cNvSpPr/>
          <p:nvPr/>
        </p:nvSpPr>
        <p:spPr>
          <a:xfrm>
            <a:off x="6217920" y="3611880"/>
            <a:ext cx="5257800" cy="1828800"/>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3611880"/>
            <a:ext cx="64008" cy="1828800"/>
          </a:xfrm>
          <a:prstGeom prst="rect">
            <a:avLst/>
          </a:prstGeom>
          <a:solidFill>
            <a:srgbClr val="2D6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3758184"/>
            <a:ext cx="4873752" cy="310896"/>
          </a:xfrm>
          <a:prstGeom prst="rect">
            <a:avLst/>
          </a:prstGeom>
          <a:noFill/>
        </p:spPr>
        <p:txBody>
          <a:bodyPr wrap="square" lIns="27432" rIns="27432" tIns="27432" bIns="27432" anchor="t">
            <a:spAutoFit/>
          </a:bodyPr>
          <a:lstStyle/>
          <a:p>
            <a:pPr algn="l">
              <a:spcAft>
                <a:spcPts val="500"/>
              </a:spcAft>
              <a:defRPr sz="1600" b="1" i="0">
                <a:solidFill>
                  <a:srgbClr val="142744"/>
                </a:solidFill>
                <a:latin typeface="Aptos"/>
              </a:defRPr>
            </a:pPr>
            <a:r>
              <a:t>System Integration</a:t>
            </a:r>
          </a:p>
        </p:txBody>
      </p:sp>
      <p:sp>
        <p:nvSpPr>
          <p:cNvPr id="23" name="TextBox 22"/>
          <p:cNvSpPr txBox="1"/>
          <p:nvPr/>
        </p:nvSpPr>
        <p:spPr>
          <a:xfrm>
            <a:off x="6419088" y="4142232"/>
            <a:ext cx="4873752" cy="1170432"/>
          </a:xfrm>
          <a:prstGeom prst="rect">
            <a:avLst/>
          </a:prstGeom>
          <a:noFill/>
        </p:spPr>
        <p:txBody>
          <a:bodyPr wrap="square" lIns="27432" rIns="27432" tIns="27432" bIns="27432" anchor="t">
            <a:spAutoFit/>
          </a:bodyPr>
          <a:lstStyle/>
          <a:p>
            <a:pPr algn="l">
              <a:spcAft>
                <a:spcPts val="500"/>
              </a:spcAft>
              <a:defRPr sz="1400" b="0" i="0">
                <a:solidFill>
                  <a:srgbClr val="27313E"/>
                </a:solidFill>
                <a:latin typeface="Aptos"/>
              </a:defRPr>
            </a:pPr>
            <a:r>
              <a:t>The project combines pretrained models with a usable upload-to-results workflow, including temporal scores and structured API output.</a:t>
            </a:r>
          </a:p>
        </p:txBody>
      </p:sp>
      <p:sp>
        <p:nvSpPr>
          <p:cNvPr id="24" name="TextBox 23"/>
          <p:cNvSpPr txBox="1"/>
          <p:nvPr/>
        </p:nvSpPr>
        <p:spPr>
          <a:xfrm>
            <a:off x="731520" y="5742432"/>
            <a:ext cx="10698480" cy="320040"/>
          </a:xfrm>
          <a:prstGeom prst="rect">
            <a:avLst/>
          </a:prstGeom>
          <a:noFill/>
        </p:spPr>
        <p:txBody>
          <a:bodyPr wrap="square" lIns="27432" rIns="27432" tIns="27432" bIns="27432" anchor="t">
            <a:spAutoFit/>
          </a:bodyPr>
          <a:lstStyle/>
          <a:p>
            <a:pPr algn="l">
              <a:spcAft>
                <a:spcPts val="500"/>
              </a:spcAft>
              <a:defRPr sz="1100" b="0" i="1">
                <a:solidFill>
                  <a:srgbClr val="626F7E"/>
                </a:solidFill>
                <a:latin typeface="Aptos"/>
              </a:defRPr>
            </a:pPr>
            <a:r>
              <a:t>The literature motivates the components; it does not by itself establish the accuracy of this implementation.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085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6400800" cy="219456"/>
          </a:xfrm>
          <a:prstGeom prst="rect">
            <a:avLst/>
          </a:prstGeom>
          <a:noFill/>
        </p:spPr>
        <p:txBody>
          <a:bodyPr wrap="square" lIns="27432" rIns="27432" tIns="27432" bIns="27432" anchor="t">
            <a:spAutoFit/>
          </a:bodyPr>
          <a:lstStyle/>
          <a:p>
            <a:pPr algn="l">
              <a:spcAft>
                <a:spcPts val="500"/>
              </a:spcAft>
              <a:defRPr sz="900" b="1" i="0">
                <a:solidFill>
                  <a:srgbClr val="00858B"/>
                </a:solidFill>
                <a:latin typeface="Aptos"/>
              </a:defRPr>
            </a:pPr>
            <a:r>
              <a:t>MOTIVATION</a:t>
            </a:r>
          </a:p>
        </p:txBody>
      </p:sp>
      <p:sp>
        <p:nvSpPr>
          <p:cNvPr id="4" name="TextBox 3"/>
          <p:cNvSpPr txBox="1"/>
          <p:nvPr/>
        </p:nvSpPr>
        <p:spPr>
          <a:xfrm>
            <a:off x="594360" y="566928"/>
            <a:ext cx="10972800" cy="502920"/>
          </a:xfrm>
          <a:prstGeom prst="rect">
            <a:avLst/>
          </a:prstGeom>
          <a:noFill/>
        </p:spPr>
        <p:txBody>
          <a:bodyPr wrap="square" lIns="27432" rIns="27432" tIns="27432" bIns="27432" anchor="t">
            <a:spAutoFit/>
          </a:bodyPr>
          <a:lstStyle/>
          <a:p>
            <a:pPr algn="l">
              <a:spcAft>
                <a:spcPts val="500"/>
              </a:spcAft>
              <a:defRPr sz="2700" b="1" i="0">
                <a:solidFill>
                  <a:srgbClr val="142744"/>
                </a:solidFill>
                <a:latin typeface="Aptos Display"/>
              </a:defRPr>
            </a:pPr>
            <a:r>
              <a:t>Research Gap</a:t>
            </a:r>
          </a:p>
        </p:txBody>
      </p:sp>
      <p:sp>
        <p:nvSpPr>
          <p:cNvPr id="5" name="Rectangle 4"/>
          <p:cNvSpPr/>
          <p:nvPr/>
        </p:nvSpPr>
        <p:spPr>
          <a:xfrm>
            <a:off x="594360" y="1170432"/>
            <a:ext cx="10972800" cy="16459"/>
          </a:xfrm>
          <a:prstGeom prst="rect">
            <a:avLst/>
          </a:prstGeom>
          <a:solidFill>
            <a:srgbClr val="D8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6547104"/>
            <a:ext cx="7315200" cy="164592"/>
          </a:xfrm>
          <a:prstGeom prst="rect">
            <a:avLst/>
          </a:prstGeom>
          <a:noFill/>
        </p:spPr>
        <p:txBody>
          <a:bodyPr wrap="square" lIns="27432" rIns="27432" tIns="27432" bIns="27432" anchor="t">
            <a:spAutoFit/>
          </a:bodyPr>
          <a:lstStyle/>
          <a:p>
            <a:pPr algn="l">
              <a:spcAft>
                <a:spcPts val="500"/>
              </a:spcAft>
              <a:defRPr sz="800" b="1" i="0">
                <a:solidFill>
                  <a:srgbClr val="626F7E"/>
                </a:solidFill>
                <a:latin typeface="Aptos"/>
              </a:defRPr>
            </a:pPr>
            <a:r>
              <a:t>AI-BASED MUSIC INSTRUMENT RECOGNITION SYSTEM  •  PROJECT REVIEW</a:t>
            </a:r>
          </a:p>
        </p:txBody>
      </p:sp>
      <p:sp>
        <p:nvSpPr>
          <p:cNvPr id="7" name="TextBox 6"/>
          <p:cNvSpPr txBox="1"/>
          <p:nvPr/>
        </p:nvSpPr>
        <p:spPr>
          <a:xfrm>
            <a:off x="11109960" y="6519672"/>
            <a:ext cx="457200" cy="201168"/>
          </a:xfrm>
          <a:prstGeom prst="rect">
            <a:avLst/>
          </a:prstGeom>
          <a:noFill/>
        </p:spPr>
        <p:txBody>
          <a:bodyPr wrap="square" lIns="27432" rIns="27432" tIns="27432" bIns="27432" anchor="t">
            <a:spAutoFit/>
          </a:bodyPr>
          <a:lstStyle/>
          <a:p>
            <a:pPr algn="r">
              <a:spcAft>
                <a:spcPts val="500"/>
              </a:spcAft>
              <a:defRPr sz="800" b="1" i="0">
                <a:solidFill>
                  <a:srgbClr val="626F7E"/>
                </a:solidFill>
                <a:latin typeface="Aptos"/>
              </a:defRPr>
            </a:pPr>
            <a:r>
              <a:t>06 / 14</a:t>
            </a:r>
          </a:p>
        </p:txBody>
      </p:sp>
      <p:sp>
        <p:nvSpPr>
          <p:cNvPr id="8" name="TextBox 7"/>
          <p:cNvSpPr txBox="1"/>
          <p:nvPr/>
        </p:nvSpPr>
        <p:spPr>
          <a:xfrm>
            <a:off x="713232" y="1417320"/>
            <a:ext cx="10607040" cy="566928"/>
          </a:xfrm>
          <a:prstGeom prst="rect">
            <a:avLst/>
          </a:prstGeom>
          <a:noFill/>
        </p:spPr>
        <p:txBody>
          <a:bodyPr wrap="square" lIns="27432" rIns="27432" tIns="27432" bIns="27432" anchor="t">
            <a:spAutoFit/>
          </a:bodyPr>
          <a:lstStyle/>
          <a:p>
            <a:pPr algn="l">
              <a:spcAft>
                <a:spcPts val="500"/>
              </a:spcAft>
              <a:defRPr sz="1900" b="1" i="0">
                <a:solidFill>
                  <a:srgbClr val="142744"/>
                </a:solidFill>
                <a:latin typeface="Aptos"/>
              </a:defRPr>
            </a:pPr>
            <a:r>
              <a:t>The practical gap is between pretrained audio models and a complete, inspectable instrument-analysis application.</a:t>
            </a:r>
          </a:p>
        </p:txBody>
      </p:sp>
      <p:sp>
        <p:nvSpPr>
          <p:cNvPr id="9" name="Rounded Rectangle 8"/>
          <p:cNvSpPr/>
          <p:nvPr/>
        </p:nvSpPr>
        <p:spPr>
          <a:xfrm>
            <a:off x="777240" y="2176272"/>
            <a:ext cx="10515600" cy="566928"/>
          </a:xfrm>
          <a:prstGeom prst="roundRect">
            <a:avLst>
              <a:gd name="adj" fmla="val 12000"/>
            </a:avLst>
          </a:prstGeom>
          <a:solidFill>
            <a:srgbClr val="F2F6FA"/>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286000"/>
            <a:ext cx="2240280" cy="274320"/>
          </a:xfrm>
          <a:prstGeom prst="rect">
            <a:avLst/>
          </a:prstGeom>
          <a:noFill/>
        </p:spPr>
        <p:txBody>
          <a:bodyPr wrap="square" lIns="27432" rIns="27432" tIns="27432" bIns="27432" anchor="t">
            <a:spAutoFit/>
          </a:bodyPr>
          <a:lstStyle/>
          <a:p>
            <a:pPr algn="l">
              <a:spcAft>
                <a:spcPts val="500"/>
              </a:spcAft>
              <a:defRPr sz="1400" b="1" i="0">
                <a:solidFill>
                  <a:srgbClr val="00858B"/>
                </a:solidFill>
                <a:latin typeface="Aptos"/>
              </a:defRPr>
            </a:pPr>
            <a:r>
              <a:t>Score interpretation</a:t>
            </a:r>
          </a:p>
        </p:txBody>
      </p:sp>
      <p:sp>
        <p:nvSpPr>
          <p:cNvPr id="11" name="TextBox 10"/>
          <p:cNvSpPr txBox="1"/>
          <p:nvPr/>
        </p:nvSpPr>
        <p:spPr>
          <a:xfrm>
            <a:off x="3291840" y="2276856"/>
            <a:ext cx="7635240" cy="310896"/>
          </a:xfrm>
          <a:prstGeom prst="rect">
            <a:avLst/>
          </a:prstGeom>
          <a:noFill/>
        </p:spPr>
        <p:txBody>
          <a:bodyPr wrap="square" lIns="27432" rIns="27432" tIns="27432" bIns="27432" anchor="t">
            <a:spAutoFit/>
          </a:bodyPr>
          <a:lstStyle/>
          <a:p>
            <a:pPr algn="l">
              <a:spcAft>
                <a:spcPts val="500"/>
              </a:spcAft>
              <a:defRPr sz="1300" b="0" i="0">
                <a:solidFill>
                  <a:srgbClr val="27313E"/>
                </a:solidFill>
                <a:latin typeface="Aptos"/>
              </a:defRPr>
            </a:pPr>
            <a:r>
              <a:t>Similarity scores must not be presented as calibrated probabilities.</a:t>
            </a:r>
          </a:p>
        </p:txBody>
      </p:sp>
      <p:sp>
        <p:nvSpPr>
          <p:cNvPr id="12" name="Rounded Rectangle 11"/>
          <p:cNvSpPr/>
          <p:nvPr/>
        </p:nvSpPr>
        <p:spPr>
          <a:xfrm>
            <a:off x="777240" y="2889504"/>
            <a:ext cx="10515600" cy="566928"/>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2999232"/>
            <a:ext cx="2240280" cy="274320"/>
          </a:xfrm>
          <a:prstGeom prst="rect">
            <a:avLst/>
          </a:prstGeom>
          <a:noFill/>
        </p:spPr>
        <p:txBody>
          <a:bodyPr wrap="square" lIns="27432" rIns="27432" tIns="27432" bIns="27432" anchor="t">
            <a:spAutoFit/>
          </a:bodyPr>
          <a:lstStyle/>
          <a:p>
            <a:pPr algn="l">
              <a:spcAft>
                <a:spcPts val="500"/>
              </a:spcAft>
              <a:defRPr sz="1400" b="1" i="0">
                <a:solidFill>
                  <a:srgbClr val="00858B"/>
                </a:solidFill>
                <a:latin typeface="Aptos"/>
              </a:defRPr>
            </a:pPr>
            <a:r>
              <a:t>Source overlap</a:t>
            </a:r>
          </a:p>
        </p:txBody>
      </p:sp>
      <p:sp>
        <p:nvSpPr>
          <p:cNvPr id="14" name="TextBox 13"/>
          <p:cNvSpPr txBox="1"/>
          <p:nvPr/>
        </p:nvSpPr>
        <p:spPr>
          <a:xfrm>
            <a:off x="3291840" y="2990088"/>
            <a:ext cx="7635240" cy="310896"/>
          </a:xfrm>
          <a:prstGeom prst="rect">
            <a:avLst/>
          </a:prstGeom>
          <a:noFill/>
        </p:spPr>
        <p:txBody>
          <a:bodyPr wrap="square" lIns="27432" rIns="27432" tIns="27432" bIns="27432" anchor="t">
            <a:spAutoFit/>
          </a:bodyPr>
          <a:lstStyle/>
          <a:p>
            <a:pPr algn="l">
              <a:spcAft>
                <a:spcPts val="500"/>
              </a:spcAft>
              <a:defRPr sz="1300" b="0" i="0">
                <a:solidFill>
                  <a:srgbClr val="27313E"/>
                </a:solidFill>
                <a:latin typeface="Aptos"/>
              </a:defRPr>
            </a:pPr>
            <a:r>
              <a:t>Separated stems may still contain leakage or residual interference.</a:t>
            </a:r>
          </a:p>
        </p:txBody>
      </p:sp>
      <p:sp>
        <p:nvSpPr>
          <p:cNvPr id="15" name="Rounded Rectangle 14"/>
          <p:cNvSpPr/>
          <p:nvPr/>
        </p:nvSpPr>
        <p:spPr>
          <a:xfrm>
            <a:off x="777240" y="3602736"/>
            <a:ext cx="10515600" cy="566928"/>
          </a:xfrm>
          <a:prstGeom prst="roundRect">
            <a:avLst>
              <a:gd name="adj" fmla="val 12000"/>
            </a:avLst>
          </a:prstGeom>
          <a:solidFill>
            <a:srgbClr val="F2F6FA"/>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3712463"/>
            <a:ext cx="2240280" cy="274320"/>
          </a:xfrm>
          <a:prstGeom prst="rect">
            <a:avLst/>
          </a:prstGeom>
          <a:noFill/>
        </p:spPr>
        <p:txBody>
          <a:bodyPr wrap="square" lIns="27432" rIns="27432" tIns="27432" bIns="27432" anchor="t">
            <a:spAutoFit/>
          </a:bodyPr>
          <a:lstStyle/>
          <a:p>
            <a:pPr algn="l">
              <a:spcAft>
                <a:spcPts val="500"/>
              </a:spcAft>
              <a:defRPr sz="1400" b="1" i="0">
                <a:solidFill>
                  <a:srgbClr val="00858B"/>
                </a:solidFill>
                <a:latin typeface="Aptos"/>
              </a:defRPr>
            </a:pPr>
            <a:r>
              <a:t>Temporal evidence</a:t>
            </a:r>
          </a:p>
        </p:txBody>
      </p:sp>
      <p:sp>
        <p:nvSpPr>
          <p:cNvPr id="17" name="TextBox 16"/>
          <p:cNvSpPr txBox="1"/>
          <p:nvPr/>
        </p:nvSpPr>
        <p:spPr>
          <a:xfrm>
            <a:off x="3291840" y="3703320"/>
            <a:ext cx="7635240" cy="310896"/>
          </a:xfrm>
          <a:prstGeom prst="rect">
            <a:avLst/>
          </a:prstGeom>
          <a:noFill/>
        </p:spPr>
        <p:txBody>
          <a:bodyPr wrap="square" lIns="27432" rIns="27432" tIns="27432" bIns="27432" anchor="t">
            <a:spAutoFit/>
          </a:bodyPr>
          <a:lstStyle/>
          <a:p>
            <a:pPr algn="l">
              <a:spcAft>
                <a:spcPts val="500"/>
              </a:spcAft>
              <a:defRPr sz="1300" b="0" i="0">
                <a:solidFill>
                  <a:srgbClr val="27313E"/>
                </a:solidFill>
                <a:latin typeface="Aptos"/>
              </a:defRPr>
            </a:pPr>
            <a:r>
              <a:t>Song-level summaries need window-level context to show when evidence appears.</a:t>
            </a:r>
          </a:p>
        </p:txBody>
      </p:sp>
      <p:sp>
        <p:nvSpPr>
          <p:cNvPr id="18" name="Rounded Rectangle 17"/>
          <p:cNvSpPr/>
          <p:nvPr/>
        </p:nvSpPr>
        <p:spPr>
          <a:xfrm>
            <a:off x="777240" y="4315968"/>
            <a:ext cx="10515600" cy="566928"/>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4425696"/>
            <a:ext cx="2240280" cy="274320"/>
          </a:xfrm>
          <a:prstGeom prst="rect">
            <a:avLst/>
          </a:prstGeom>
          <a:noFill/>
        </p:spPr>
        <p:txBody>
          <a:bodyPr wrap="square" lIns="27432" rIns="27432" tIns="27432" bIns="27432" anchor="t">
            <a:spAutoFit/>
          </a:bodyPr>
          <a:lstStyle/>
          <a:p>
            <a:pPr algn="l">
              <a:spcAft>
                <a:spcPts val="500"/>
              </a:spcAft>
              <a:defRPr sz="1400" b="1" i="0">
                <a:solidFill>
                  <a:srgbClr val="00858B"/>
                </a:solidFill>
                <a:latin typeface="Aptos"/>
              </a:defRPr>
            </a:pPr>
            <a:r>
              <a:t>Reproducible evaluation</a:t>
            </a:r>
          </a:p>
        </p:txBody>
      </p:sp>
      <p:sp>
        <p:nvSpPr>
          <p:cNvPr id="20" name="TextBox 19"/>
          <p:cNvSpPr txBox="1"/>
          <p:nvPr/>
        </p:nvSpPr>
        <p:spPr>
          <a:xfrm>
            <a:off x="3291840" y="4416552"/>
            <a:ext cx="7635240" cy="310896"/>
          </a:xfrm>
          <a:prstGeom prst="rect">
            <a:avLst/>
          </a:prstGeom>
          <a:noFill/>
        </p:spPr>
        <p:txBody>
          <a:bodyPr wrap="square" lIns="27432" rIns="27432" tIns="27432" bIns="27432" anchor="t">
            <a:spAutoFit/>
          </a:bodyPr>
          <a:lstStyle/>
          <a:p>
            <a:pPr algn="l">
              <a:spcAft>
                <a:spcPts val="500"/>
              </a:spcAft>
              <a:defRPr sz="1300" b="0" i="0">
                <a:solidFill>
                  <a:srgbClr val="27313E"/>
                </a:solidFill>
                <a:latin typeface="Aptos"/>
              </a:defRPr>
            </a:pPr>
            <a:r>
              <a:t>Claims require labelled data, documented metrics, and repeatable test conditions.</a:t>
            </a:r>
          </a:p>
        </p:txBody>
      </p:sp>
      <p:sp>
        <p:nvSpPr>
          <p:cNvPr id="21" name="Rounded Rectangle 20"/>
          <p:cNvSpPr/>
          <p:nvPr/>
        </p:nvSpPr>
        <p:spPr>
          <a:xfrm>
            <a:off x="777240" y="5029200"/>
            <a:ext cx="10515600" cy="566928"/>
          </a:xfrm>
          <a:prstGeom prst="roundRect">
            <a:avLst>
              <a:gd name="adj" fmla="val 12000"/>
            </a:avLst>
          </a:prstGeom>
          <a:solidFill>
            <a:srgbClr val="F2F6FA"/>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7552" y="5138928"/>
            <a:ext cx="2240280" cy="274320"/>
          </a:xfrm>
          <a:prstGeom prst="rect">
            <a:avLst/>
          </a:prstGeom>
          <a:noFill/>
        </p:spPr>
        <p:txBody>
          <a:bodyPr wrap="square" lIns="27432" rIns="27432" tIns="27432" bIns="27432" anchor="t">
            <a:spAutoFit/>
          </a:bodyPr>
          <a:lstStyle/>
          <a:p>
            <a:pPr algn="l">
              <a:spcAft>
                <a:spcPts val="500"/>
              </a:spcAft>
              <a:defRPr sz="1400" b="1" i="0">
                <a:solidFill>
                  <a:srgbClr val="00858B"/>
                </a:solidFill>
                <a:latin typeface="Aptos"/>
              </a:defRPr>
            </a:pPr>
            <a:r>
              <a:t>Dataset scale</a:t>
            </a:r>
          </a:p>
        </p:txBody>
      </p:sp>
      <p:sp>
        <p:nvSpPr>
          <p:cNvPr id="23" name="TextBox 22"/>
          <p:cNvSpPr txBox="1"/>
          <p:nvPr/>
        </p:nvSpPr>
        <p:spPr>
          <a:xfrm>
            <a:off x="3291840" y="5129784"/>
            <a:ext cx="7635240" cy="310896"/>
          </a:xfrm>
          <a:prstGeom prst="rect">
            <a:avLst/>
          </a:prstGeom>
          <a:noFill/>
        </p:spPr>
        <p:txBody>
          <a:bodyPr wrap="square" lIns="27432" rIns="27432" tIns="27432" bIns="27432" anchor="t">
            <a:spAutoFit/>
          </a:bodyPr>
          <a:lstStyle/>
          <a:p>
            <a:pPr algn="l">
              <a:spcAft>
                <a:spcPts val="500"/>
              </a:spcAft>
              <a:defRPr sz="1300" b="0" i="0">
                <a:solidFill>
                  <a:srgbClr val="27313E"/>
                </a:solidFill>
                <a:latin typeface="Aptos"/>
              </a:defRPr>
            </a:pPr>
            <a:r>
              <a:t>Large-scale collection estimates need to be distinguished from verified processed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085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6400800" cy="219456"/>
          </a:xfrm>
          <a:prstGeom prst="rect">
            <a:avLst/>
          </a:prstGeom>
          <a:noFill/>
        </p:spPr>
        <p:txBody>
          <a:bodyPr wrap="square" lIns="27432" rIns="27432" tIns="27432" bIns="27432" anchor="t">
            <a:spAutoFit/>
          </a:bodyPr>
          <a:lstStyle/>
          <a:p>
            <a:pPr algn="l">
              <a:spcAft>
                <a:spcPts val="500"/>
              </a:spcAft>
              <a:defRPr sz="900" b="1" i="0">
                <a:solidFill>
                  <a:srgbClr val="00858B"/>
                </a:solidFill>
                <a:latin typeface="Aptos"/>
              </a:defRPr>
            </a:pPr>
            <a:r>
              <a:t>PROJECT PLAN</a:t>
            </a:r>
          </a:p>
        </p:txBody>
      </p:sp>
      <p:sp>
        <p:nvSpPr>
          <p:cNvPr id="4" name="TextBox 3"/>
          <p:cNvSpPr txBox="1"/>
          <p:nvPr/>
        </p:nvSpPr>
        <p:spPr>
          <a:xfrm>
            <a:off x="594360" y="566928"/>
            <a:ext cx="10972800" cy="502920"/>
          </a:xfrm>
          <a:prstGeom prst="rect">
            <a:avLst/>
          </a:prstGeom>
          <a:noFill/>
        </p:spPr>
        <p:txBody>
          <a:bodyPr wrap="square" lIns="27432" rIns="27432" tIns="27432" bIns="27432" anchor="t">
            <a:spAutoFit/>
          </a:bodyPr>
          <a:lstStyle/>
          <a:p>
            <a:pPr algn="l">
              <a:spcAft>
                <a:spcPts val="500"/>
              </a:spcAft>
              <a:defRPr sz="2700" b="1" i="0">
                <a:solidFill>
                  <a:srgbClr val="142744"/>
                </a:solidFill>
                <a:latin typeface="Aptos Display"/>
              </a:defRPr>
            </a:pPr>
            <a:r>
              <a:t>Objectives &amp; Intended Outcomes</a:t>
            </a:r>
          </a:p>
        </p:txBody>
      </p:sp>
      <p:sp>
        <p:nvSpPr>
          <p:cNvPr id="5" name="Rectangle 4"/>
          <p:cNvSpPr/>
          <p:nvPr/>
        </p:nvSpPr>
        <p:spPr>
          <a:xfrm>
            <a:off x="594360" y="1170432"/>
            <a:ext cx="10972800" cy="16459"/>
          </a:xfrm>
          <a:prstGeom prst="rect">
            <a:avLst/>
          </a:prstGeom>
          <a:solidFill>
            <a:srgbClr val="D8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6547104"/>
            <a:ext cx="7315200" cy="164592"/>
          </a:xfrm>
          <a:prstGeom prst="rect">
            <a:avLst/>
          </a:prstGeom>
          <a:noFill/>
        </p:spPr>
        <p:txBody>
          <a:bodyPr wrap="square" lIns="27432" rIns="27432" tIns="27432" bIns="27432" anchor="t">
            <a:spAutoFit/>
          </a:bodyPr>
          <a:lstStyle/>
          <a:p>
            <a:pPr algn="l">
              <a:spcAft>
                <a:spcPts val="500"/>
              </a:spcAft>
              <a:defRPr sz="800" b="1" i="0">
                <a:solidFill>
                  <a:srgbClr val="626F7E"/>
                </a:solidFill>
                <a:latin typeface="Aptos"/>
              </a:defRPr>
            </a:pPr>
            <a:r>
              <a:t>AI-BASED MUSIC INSTRUMENT RECOGNITION SYSTEM  •  PROJECT REVIEW</a:t>
            </a:r>
          </a:p>
        </p:txBody>
      </p:sp>
      <p:sp>
        <p:nvSpPr>
          <p:cNvPr id="7" name="TextBox 6"/>
          <p:cNvSpPr txBox="1"/>
          <p:nvPr/>
        </p:nvSpPr>
        <p:spPr>
          <a:xfrm>
            <a:off x="11109960" y="6519672"/>
            <a:ext cx="457200" cy="201168"/>
          </a:xfrm>
          <a:prstGeom prst="rect">
            <a:avLst/>
          </a:prstGeom>
          <a:noFill/>
        </p:spPr>
        <p:txBody>
          <a:bodyPr wrap="square" lIns="27432" rIns="27432" tIns="27432" bIns="27432" anchor="t">
            <a:spAutoFit/>
          </a:bodyPr>
          <a:lstStyle/>
          <a:p>
            <a:pPr algn="r">
              <a:spcAft>
                <a:spcPts val="500"/>
              </a:spcAft>
              <a:defRPr sz="800" b="1" i="0">
                <a:solidFill>
                  <a:srgbClr val="626F7E"/>
                </a:solidFill>
                <a:latin typeface="Aptos"/>
              </a:defRPr>
            </a:pPr>
            <a:r>
              <a:t>07 / 14</a:t>
            </a:r>
          </a:p>
        </p:txBody>
      </p:sp>
      <p:sp>
        <p:nvSpPr>
          <p:cNvPr id="8" name="TextBox 7"/>
          <p:cNvSpPr txBox="1"/>
          <p:nvPr/>
        </p:nvSpPr>
        <p:spPr>
          <a:xfrm>
            <a:off x="731520" y="1417320"/>
            <a:ext cx="5212080" cy="320040"/>
          </a:xfrm>
          <a:prstGeom prst="rect">
            <a:avLst/>
          </a:prstGeom>
          <a:noFill/>
        </p:spPr>
        <p:txBody>
          <a:bodyPr wrap="square" lIns="27432" rIns="27432" tIns="27432" bIns="27432" anchor="t">
            <a:spAutoFit/>
          </a:bodyPr>
          <a:lstStyle/>
          <a:p>
            <a:pPr algn="l">
              <a:spcAft>
                <a:spcPts val="500"/>
              </a:spcAft>
              <a:defRPr sz="1200" b="1" i="0">
                <a:solidFill>
                  <a:srgbClr val="00858B"/>
                </a:solidFill>
                <a:latin typeface="Aptos"/>
              </a:defRPr>
            </a:pPr>
            <a:r>
              <a:t>PROJECT OBJECTIVES</a:t>
            </a:r>
          </a:p>
        </p:txBody>
      </p:sp>
      <p:sp>
        <p:nvSpPr>
          <p:cNvPr id="9" name="TextBox 8"/>
          <p:cNvSpPr txBox="1"/>
          <p:nvPr/>
        </p:nvSpPr>
        <p:spPr>
          <a:xfrm>
            <a:off x="777240" y="1828800"/>
            <a:ext cx="5486400" cy="3977639"/>
          </a:xfrm>
          <a:prstGeom prst="rect">
            <a:avLst/>
          </a:prstGeom>
          <a:noFill/>
        </p:spPr>
        <p:txBody>
          <a:bodyPr wrap="square" lIns="18288" rIns="27432" tIns="18288" bIns="18288">
            <a:spAutoFit/>
          </a:bodyPr>
          <a:lstStyle/>
          <a:p>
            <a:pPr>
              <a:spcAft>
                <a:spcPts val="1000"/>
              </a:spcAft>
              <a:defRPr sz="1500">
                <a:solidFill>
                  <a:srgbClr val="27313E"/>
                </a:solidFill>
                <a:latin typeface="Aptos"/>
              </a:defRPr>
            </a:pPr>
            <a:r>
              <a:t>Build a React interface for audio upload, preview, and result display.</a:t>
            </a:r>
          </a:p>
          <a:p>
            <a:pPr>
              <a:spcAft>
                <a:spcPts val="1000"/>
              </a:spcAft>
              <a:defRPr sz="1500">
                <a:solidFill>
                  <a:srgbClr val="27313E"/>
                </a:solidFill>
                <a:latin typeface="Aptos"/>
              </a:defRPr>
            </a:pPr>
            <a:r>
              <a:t>Validate files and standardise audio input in the FastAPI backend.</a:t>
            </a:r>
          </a:p>
          <a:p>
            <a:pPr>
              <a:spcAft>
                <a:spcPts val="1000"/>
              </a:spcAft>
              <a:defRPr sz="1500">
                <a:solidFill>
                  <a:srgbClr val="27313E"/>
                </a:solidFill>
                <a:latin typeface="Aptos"/>
              </a:defRPr>
            </a:pPr>
            <a:r>
              <a:t>Integrate Demucs source separation and pretrained CLAP inference.</a:t>
            </a:r>
          </a:p>
          <a:p>
            <a:pPr>
              <a:spcAft>
                <a:spcPts val="1000"/>
              </a:spcAft>
              <a:defRPr sz="1500">
                <a:solidFill>
                  <a:srgbClr val="27313E"/>
                </a:solidFill>
                <a:latin typeface="Aptos"/>
              </a:defRPr>
            </a:pPr>
            <a:r>
              <a:t>Compute one-second window scores and song-level summaries.</a:t>
            </a:r>
          </a:p>
          <a:p>
            <a:pPr>
              <a:spcAft>
                <a:spcPts val="1000"/>
              </a:spcAft>
              <a:defRPr sz="1500">
                <a:solidFill>
                  <a:srgbClr val="27313E"/>
                </a:solidFill>
                <a:latin typeface="Aptos"/>
              </a:defRPr>
            </a:pPr>
            <a:r>
              <a:t>Return structured output with temporal evidence and coverage.</a:t>
            </a:r>
          </a:p>
          <a:p>
            <a:pPr>
              <a:spcAft>
                <a:spcPts val="1000"/>
              </a:spcAft>
              <a:defRPr sz="1500">
                <a:solidFill>
                  <a:srgbClr val="27313E"/>
                </a:solidFill>
                <a:latin typeface="Aptos"/>
              </a:defRPr>
            </a:pPr>
            <a:r>
              <a:t>Define a reproducible evaluation plan for labelled recordings.</a:t>
            </a:r>
          </a:p>
        </p:txBody>
      </p:sp>
      <p:sp>
        <p:nvSpPr>
          <p:cNvPr id="10" name="Rounded Rectangle 9"/>
          <p:cNvSpPr/>
          <p:nvPr/>
        </p:nvSpPr>
        <p:spPr>
          <a:xfrm>
            <a:off x="6629400" y="1508760"/>
            <a:ext cx="4572000" cy="1874519"/>
          </a:xfrm>
          <a:prstGeom prst="roundRect">
            <a:avLst>
              <a:gd name="adj" fmla="val 12000"/>
            </a:avLst>
          </a:prstGeom>
          <a:solidFill>
            <a:srgbClr val="E7EFF8"/>
          </a:solidFill>
          <a:ln w="10160">
            <a:solidFill>
              <a:srgbClr val="E7EF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03720" y="1783080"/>
            <a:ext cx="4023360" cy="292608"/>
          </a:xfrm>
          <a:prstGeom prst="rect">
            <a:avLst/>
          </a:prstGeom>
          <a:noFill/>
        </p:spPr>
        <p:txBody>
          <a:bodyPr wrap="square" lIns="27432" rIns="27432" tIns="27432" bIns="27432" anchor="t">
            <a:spAutoFit/>
          </a:bodyPr>
          <a:lstStyle/>
          <a:p>
            <a:pPr algn="l">
              <a:spcAft>
                <a:spcPts val="500"/>
              </a:spcAft>
              <a:defRPr sz="1200" b="1" i="0">
                <a:solidFill>
                  <a:srgbClr val="2D65A3"/>
                </a:solidFill>
                <a:latin typeface="Aptos"/>
              </a:defRPr>
            </a:pPr>
            <a:r>
              <a:t>INTENDED SOFTWARE OUTCOME</a:t>
            </a:r>
          </a:p>
        </p:txBody>
      </p:sp>
      <p:sp>
        <p:nvSpPr>
          <p:cNvPr id="12" name="TextBox 11"/>
          <p:cNvSpPr txBox="1"/>
          <p:nvPr/>
        </p:nvSpPr>
        <p:spPr>
          <a:xfrm>
            <a:off x="6903720" y="2212848"/>
            <a:ext cx="3977639" cy="868680"/>
          </a:xfrm>
          <a:prstGeom prst="rect">
            <a:avLst/>
          </a:prstGeom>
          <a:noFill/>
        </p:spPr>
        <p:txBody>
          <a:bodyPr wrap="square" lIns="27432" rIns="27432" tIns="27432" bIns="27432" anchor="t">
            <a:spAutoFit/>
          </a:bodyPr>
          <a:lstStyle/>
          <a:p>
            <a:pPr algn="l">
              <a:spcAft>
                <a:spcPts val="500"/>
              </a:spcAft>
              <a:defRPr sz="1600" b="1" i="0">
                <a:solidFill>
                  <a:srgbClr val="142744"/>
                </a:solidFill>
                <a:latin typeface="Aptos"/>
              </a:defRPr>
            </a:pPr>
            <a:r>
              <a:t>A working prototype that links audio upload, analysis orchestration, model inference, and structured results.</a:t>
            </a:r>
          </a:p>
        </p:txBody>
      </p:sp>
      <p:sp>
        <p:nvSpPr>
          <p:cNvPr id="13" name="Rounded Rectangle 12"/>
          <p:cNvSpPr/>
          <p:nvPr/>
        </p:nvSpPr>
        <p:spPr>
          <a:xfrm>
            <a:off x="6629400" y="3703320"/>
            <a:ext cx="4572000" cy="1691640"/>
          </a:xfrm>
          <a:prstGeom prst="roundRect">
            <a:avLst>
              <a:gd name="adj" fmla="val 12000"/>
            </a:avLst>
          </a:prstGeom>
          <a:solidFill>
            <a:srgbClr val="E2F3F1"/>
          </a:solidFill>
          <a:ln w="10160">
            <a:solidFill>
              <a:srgbClr val="E2F3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03720" y="3950208"/>
            <a:ext cx="4023360" cy="274320"/>
          </a:xfrm>
          <a:prstGeom prst="rect">
            <a:avLst/>
          </a:prstGeom>
          <a:noFill/>
        </p:spPr>
        <p:txBody>
          <a:bodyPr wrap="square" lIns="27432" rIns="27432" tIns="27432" bIns="27432" anchor="t">
            <a:spAutoFit/>
          </a:bodyPr>
          <a:lstStyle/>
          <a:p>
            <a:pPr algn="l">
              <a:spcAft>
                <a:spcPts val="500"/>
              </a:spcAft>
              <a:defRPr sz="1200" b="1" i="0">
                <a:solidFill>
                  <a:srgbClr val="00858B"/>
                </a:solidFill>
                <a:latin typeface="Aptos"/>
              </a:defRPr>
            </a:pPr>
            <a:r>
              <a:t>POTENTIAL SDG ALIGNMENT</a:t>
            </a:r>
          </a:p>
        </p:txBody>
      </p:sp>
      <p:sp>
        <p:nvSpPr>
          <p:cNvPr id="15" name="TextBox 14"/>
          <p:cNvSpPr txBox="1"/>
          <p:nvPr/>
        </p:nvSpPr>
        <p:spPr>
          <a:xfrm>
            <a:off x="6903720" y="4352544"/>
            <a:ext cx="3886200" cy="841248"/>
          </a:xfrm>
          <a:prstGeom prst="rect">
            <a:avLst/>
          </a:prstGeom>
          <a:noFill/>
        </p:spPr>
        <p:txBody>
          <a:bodyPr wrap="square" lIns="27432" rIns="27432" tIns="27432" bIns="27432" anchor="t">
            <a:spAutoFit/>
          </a:bodyPr>
          <a:lstStyle/>
          <a:p>
            <a:pPr algn="l">
              <a:spcAft>
                <a:spcPts val="500"/>
              </a:spcAft>
              <a:defRPr sz="1500" b="0" i="0">
                <a:solidFill>
                  <a:srgbClr val="27313E"/>
                </a:solidFill>
                <a:latin typeface="Aptos"/>
              </a:defRPr>
            </a:pPr>
            <a:r>
              <a:t>SDG 9: technology and innovation</a:t>
            </a:r>
          </a:p>
          <a:p>
            <a:pPr algn="l">
              <a:spcAft>
                <a:spcPts val="500"/>
              </a:spcAft>
              <a:defRPr sz="1500" b="0" i="0">
                <a:solidFill>
                  <a:srgbClr val="27313E"/>
                </a:solidFill>
                <a:latin typeface="Aptos"/>
              </a:defRPr>
            </a:pPr>
            <a:r>
              <a:t>SDG 4: learning and technical skills</a:t>
            </a:r>
          </a:p>
        </p:txBody>
      </p:sp>
      <p:sp>
        <p:nvSpPr>
          <p:cNvPr id="16" name="TextBox 15"/>
          <p:cNvSpPr txBox="1"/>
          <p:nvPr/>
        </p:nvSpPr>
        <p:spPr>
          <a:xfrm>
            <a:off x="6675120" y="5559552"/>
            <a:ext cx="4480560" cy="320040"/>
          </a:xfrm>
          <a:prstGeom prst="rect">
            <a:avLst/>
          </a:prstGeom>
          <a:noFill/>
        </p:spPr>
        <p:txBody>
          <a:bodyPr wrap="square" lIns="27432" rIns="27432" tIns="27432" bIns="27432" anchor="t">
            <a:spAutoFit/>
          </a:bodyPr>
          <a:lstStyle/>
          <a:p>
            <a:pPr algn="l">
              <a:spcAft>
                <a:spcPts val="500"/>
              </a:spcAft>
              <a:defRPr sz="1000" b="0" i="1">
                <a:solidFill>
                  <a:srgbClr val="626F7E"/>
                </a:solidFill>
                <a:latin typeface="Aptos"/>
              </a:defRPr>
            </a:pPr>
            <a:r>
              <a:t>Alignment is contextual; no SDG impact is measured.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085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6400800" cy="219456"/>
          </a:xfrm>
          <a:prstGeom prst="rect">
            <a:avLst/>
          </a:prstGeom>
          <a:noFill/>
        </p:spPr>
        <p:txBody>
          <a:bodyPr wrap="square" lIns="27432" rIns="27432" tIns="27432" bIns="27432" anchor="t">
            <a:spAutoFit/>
          </a:bodyPr>
          <a:lstStyle/>
          <a:p>
            <a:pPr algn="l">
              <a:spcAft>
                <a:spcPts val="500"/>
              </a:spcAft>
              <a:defRPr sz="900" b="1" i="0">
                <a:solidFill>
                  <a:srgbClr val="00858B"/>
                </a:solidFill>
                <a:latin typeface="Aptos"/>
              </a:defRPr>
            </a:pPr>
            <a:r>
              <a:t>TECHNICAL DESIGN</a:t>
            </a:r>
          </a:p>
        </p:txBody>
      </p:sp>
      <p:sp>
        <p:nvSpPr>
          <p:cNvPr id="4" name="TextBox 3"/>
          <p:cNvSpPr txBox="1"/>
          <p:nvPr/>
        </p:nvSpPr>
        <p:spPr>
          <a:xfrm>
            <a:off x="594360" y="566928"/>
            <a:ext cx="10972800" cy="502920"/>
          </a:xfrm>
          <a:prstGeom prst="rect">
            <a:avLst/>
          </a:prstGeom>
          <a:noFill/>
        </p:spPr>
        <p:txBody>
          <a:bodyPr wrap="square" lIns="27432" rIns="27432" tIns="27432" bIns="27432" anchor="t">
            <a:spAutoFit/>
          </a:bodyPr>
          <a:lstStyle/>
          <a:p>
            <a:pPr algn="l">
              <a:spcAft>
                <a:spcPts val="500"/>
              </a:spcAft>
              <a:defRPr sz="2700" b="1" i="0">
                <a:solidFill>
                  <a:srgbClr val="142744"/>
                </a:solidFill>
                <a:latin typeface="Aptos Display"/>
              </a:defRPr>
            </a:pPr>
            <a:r>
              <a:t>Framework / System Architecture</a:t>
            </a:r>
          </a:p>
        </p:txBody>
      </p:sp>
      <p:sp>
        <p:nvSpPr>
          <p:cNvPr id="5" name="Rectangle 4"/>
          <p:cNvSpPr/>
          <p:nvPr/>
        </p:nvSpPr>
        <p:spPr>
          <a:xfrm>
            <a:off x="594360" y="1170432"/>
            <a:ext cx="10972800" cy="16459"/>
          </a:xfrm>
          <a:prstGeom prst="rect">
            <a:avLst/>
          </a:prstGeom>
          <a:solidFill>
            <a:srgbClr val="D8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6547104"/>
            <a:ext cx="7315200" cy="164592"/>
          </a:xfrm>
          <a:prstGeom prst="rect">
            <a:avLst/>
          </a:prstGeom>
          <a:noFill/>
        </p:spPr>
        <p:txBody>
          <a:bodyPr wrap="square" lIns="27432" rIns="27432" tIns="27432" bIns="27432" anchor="t">
            <a:spAutoFit/>
          </a:bodyPr>
          <a:lstStyle/>
          <a:p>
            <a:pPr algn="l">
              <a:spcAft>
                <a:spcPts val="500"/>
              </a:spcAft>
              <a:defRPr sz="800" b="1" i="0">
                <a:solidFill>
                  <a:srgbClr val="626F7E"/>
                </a:solidFill>
                <a:latin typeface="Aptos"/>
              </a:defRPr>
            </a:pPr>
            <a:r>
              <a:t>AI-BASED MUSIC INSTRUMENT RECOGNITION SYSTEM  •  PROJECT REVIEW</a:t>
            </a:r>
          </a:p>
        </p:txBody>
      </p:sp>
      <p:sp>
        <p:nvSpPr>
          <p:cNvPr id="7" name="TextBox 6"/>
          <p:cNvSpPr txBox="1"/>
          <p:nvPr/>
        </p:nvSpPr>
        <p:spPr>
          <a:xfrm>
            <a:off x="11109960" y="6519672"/>
            <a:ext cx="457200" cy="201168"/>
          </a:xfrm>
          <a:prstGeom prst="rect">
            <a:avLst/>
          </a:prstGeom>
          <a:noFill/>
        </p:spPr>
        <p:txBody>
          <a:bodyPr wrap="square" lIns="27432" rIns="27432" tIns="27432" bIns="27432" anchor="t">
            <a:spAutoFit/>
          </a:bodyPr>
          <a:lstStyle/>
          <a:p>
            <a:pPr algn="r">
              <a:spcAft>
                <a:spcPts val="500"/>
              </a:spcAft>
              <a:defRPr sz="800" b="1" i="0">
                <a:solidFill>
                  <a:srgbClr val="626F7E"/>
                </a:solidFill>
                <a:latin typeface="Aptos"/>
              </a:defRPr>
            </a:pPr>
            <a:r>
              <a:t>08 / 14</a:t>
            </a:r>
          </a:p>
        </p:txBody>
      </p:sp>
      <p:sp>
        <p:nvSpPr>
          <p:cNvPr id="8" name="Rounded Rectangle 7"/>
          <p:cNvSpPr/>
          <p:nvPr/>
        </p:nvSpPr>
        <p:spPr>
          <a:xfrm>
            <a:off x="658368" y="1645920"/>
            <a:ext cx="1828800" cy="914400"/>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83080"/>
            <a:ext cx="1609344" cy="256032"/>
          </a:xfrm>
          <a:prstGeom prst="rect">
            <a:avLst/>
          </a:prstGeom>
          <a:noFill/>
        </p:spPr>
        <p:txBody>
          <a:bodyPr wrap="square" lIns="27432" rIns="27432" tIns="27432" bIns="27432" anchor="t">
            <a:spAutoFit/>
          </a:bodyPr>
          <a:lstStyle/>
          <a:p>
            <a:pPr algn="ctr">
              <a:spcAft>
                <a:spcPts val="500"/>
              </a:spcAft>
              <a:defRPr sz="1300" b="1" i="0">
                <a:solidFill>
                  <a:srgbClr val="2D65A3"/>
                </a:solidFill>
                <a:latin typeface="Aptos"/>
              </a:defRPr>
            </a:pPr>
            <a:r>
              <a:t>1  React UI</a:t>
            </a:r>
          </a:p>
        </p:txBody>
      </p:sp>
      <p:sp>
        <p:nvSpPr>
          <p:cNvPr id="10" name="TextBox 9"/>
          <p:cNvSpPr txBox="1"/>
          <p:nvPr/>
        </p:nvSpPr>
        <p:spPr>
          <a:xfrm>
            <a:off x="768096" y="2130552"/>
            <a:ext cx="1609344" cy="228600"/>
          </a:xfrm>
          <a:prstGeom prst="rect">
            <a:avLst/>
          </a:prstGeom>
          <a:noFill/>
        </p:spPr>
        <p:txBody>
          <a:bodyPr wrap="square" lIns="27432" rIns="27432" tIns="27432" bIns="27432" anchor="t">
            <a:spAutoFit/>
          </a:bodyPr>
          <a:lstStyle/>
          <a:p>
            <a:pPr algn="ctr">
              <a:spcAft>
                <a:spcPts val="500"/>
              </a:spcAft>
              <a:defRPr sz="1000" b="0" i="0">
                <a:solidFill>
                  <a:srgbClr val="27313E"/>
                </a:solidFill>
                <a:latin typeface="Aptos"/>
              </a:defRPr>
            </a:pPr>
            <a:r>
              <a:t>Upload + preview</a:t>
            </a:r>
          </a:p>
        </p:txBody>
      </p:sp>
      <p:sp>
        <p:nvSpPr>
          <p:cNvPr id="11" name="Rounded Rectangle 10"/>
          <p:cNvSpPr/>
          <p:nvPr/>
        </p:nvSpPr>
        <p:spPr>
          <a:xfrm>
            <a:off x="2743200" y="1645920"/>
            <a:ext cx="1828800" cy="914400"/>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52928" y="1783080"/>
            <a:ext cx="1609344" cy="256032"/>
          </a:xfrm>
          <a:prstGeom prst="rect">
            <a:avLst/>
          </a:prstGeom>
          <a:noFill/>
        </p:spPr>
        <p:txBody>
          <a:bodyPr wrap="square" lIns="27432" rIns="27432" tIns="27432" bIns="27432" anchor="t">
            <a:spAutoFit/>
          </a:bodyPr>
          <a:lstStyle/>
          <a:p>
            <a:pPr algn="ctr">
              <a:spcAft>
                <a:spcPts val="500"/>
              </a:spcAft>
              <a:defRPr sz="1300" b="1" i="0">
                <a:solidFill>
                  <a:srgbClr val="00858B"/>
                </a:solidFill>
                <a:latin typeface="Aptos"/>
              </a:defRPr>
            </a:pPr>
            <a:r>
              <a:t>2  FastAPI</a:t>
            </a:r>
          </a:p>
        </p:txBody>
      </p:sp>
      <p:sp>
        <p:nvSpPr>
          <p:cNvPr id="13" name="TextBox 12"/>
          <p:cNvSpPr txBox="1"/>
          <p:nvPr/>
        </p:nvSpPr>
        <p:spPr>
          <a:xfrm>
            <a:off x="2852928" y="2130552"/>
            <a:ext cx="1609344" cy="228600"/>
          </a:xfrm>
          <a:prstGeom prst="rect">
            <a:avLst/>
          </a:prstGeom>
          <a:noFill/>
        </p:spPr>
        <p:txBody>
          <a:bodyPr wrap="square" lIns="27432" rIns="27432" tIns="27432" bIns="27432" anchor="t">
            <a:spAutoFit/>
          </a:bodyPr>
          <a:lstStyle/>
          <a:p>
            <a:pPr algn="ctr">
              <a:spcAft>
                <a:spcPts val="500"/>
              </a:spcAft>
              <a:defRPr sz="1000" b="0" i="0">
                <a:solidFill>
                  <a:srgbClr val="27313E"/>
                </a:solidFill>
                <a:latin typeface="Aptos"/>
              </a:defRPr>
            </a:pPr>
            <a:r>
              <a:t>Validate file</a:t>
            </a:r>
          </a:p>
        </p:txBody>
      </p:sp>
      <p:sp>
        <p:nvSpPr>
          <p:cNvPr id="14" name="Rounded Rectangle 13"/>
          <p:cNvSpPr/>
          <p:nvPr/>
        </p:nvSpPr>
        <p:spPr>
          <a:xfrm>
            <a:off x="4828032" y="1645920"/>
            <a:ext cx="1828800" cy="914400"/>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37760" y="1783080"/>
            <a:ext cx="1609344" cy="256032"/>
          </a:xfrm>
          <a:prstGeom prst="rect">
            <a:avLst/>
          </a:prstGeom>
          <a:noFill/>
        </p:spPr>
        <p:txBody>
          <a:bodyPr wrap="square" lIns="27432" rIns="27432" tIns="27432" bIns="27432" anchor="t">
            <a:spAutoFit/>
          </a:bodyPr>
          <a:lstStyle/>
          <a:p>
            <a:pPr algn="ctr">
              <a:spcAft>
                <a:spcPts val="500"/>
              </a:spcAft>
              <a:defRPr sz="1300" b="1" i="0">
                <a:solidFill>
                  <a:srgbClr val="CE9939"/>
                </a:solidFill>
                <a:latin typeface="Aptos"/>
              </a:defRPr>
            </a:pPr>
            <a:r>
              <a:t>3  Audio prep</a:t>
            </a:r>
          </a:p>
        </p:txBody>
      </p:sp>
      <p:sp>
        <p:nvSpPr>
          <p:cNvPr id="16" name="TextBox 15"/>
          <p:cNvSpPr txBox="1"/>
          <p:nvPr/>
        </p:nvSpPr>
        <p:spPr>
          <a:xfrm>
            <a:off x="4937760" y="2130552"/>
            <a:ext cx="1609344" cy="228600"/>
          </a:xfrm>
          <a:prstGeom prst="rect">
            <a:avLst/>
          </a:prstGeom>
          <a:noFill/>
        </p:spPr>
        <p:txBody>
          <a:bodyPr wrap="square" lIns="27432" rIns="27432" tIns="27432" bIns="27432" anchor="t">
            <a:spAutoFit/>
          </a:bodyPr>
          <a:lstStyle/>
          <a:p>
            <a:pPr algn="ctr">
              <a:spcAft>
                <a:spcPts val="500"/>
              </a:spcAft>
              <a:defRPr sz="1000" b="0" i="0">
                <a:solidFill>
                  <a:srgbClr val="27313E"/>
                </a:solidFill>
                <a:latin typeface="Aptos"/>
              </a:defRPr>
            </a:pPr>
            <a:r>
              <a:t>Mono • 48 kHz</a:t>
            </a:r>
          </a:p>
        </p:txBody>
      </p:sp>
      <p:sp>
        <p:nvSpPr>
          <p:cNvPr id="17" name="Rounded Rectangle 16"/>
          <p:cNvSpPr/>
          <p:nvPr/>
        </p:nvSpPr>
        <p:spPr>
          <a:xfrm>
            <a:off x="6912864" y="1645920"/>
            <a:ext cx="1828800" cy="914400"/>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22592" y="1783080"/>
            <a:ext cx="1609344" cy="256032"/>
          </a:xfrm>
          <a:prstGeom prst="rect">
            <a:avLst/>
          </a:prstGeom>
          <a:noFill/>
        </p:spPr>
        <p:txBody>
          <a:bodyPr wrap="square" lIns="27432" rIns="27432" tIns="27432" bIns="27432" anchor="t">
            <a:spAutoFit/>
          </a:bodyPr>
          <a:lstStyle/>
          <a:p>
            <a:pPr algn="ctr">
              <a:spcAft>
                <a:spcPts val="500"/>
              </a:spcAft>
              <a:defRPr sz="1300" b="1" i="0">
                <a:solidFill>
                  <a:srgbClr val="2D65A3"/>
                </a:solidFill>
                <a:latin typeface="Aptos"/>
              </a:defRPr>
            </a:pPr>
            <a:r>
              <a:t>4  Demucs</a:t>
            </a:r>
          </a:p>
        </p:txBody>
      </p:sp>
      <p:sp>
        <p:nvSpPr>
          <p:cNvPr id="19" name="TextBox 18"/>
          <p:cNvSpPr txBox="1"/>
          <p:nvPr/>
        </p:nvSpPr>
        <p:spPr>
          <a:xfrm>
            <a:off x="7022592" y="2130552"/>
            <a:ext cx="1609344" cy="228600"/>
          </a:xfrm>
          <a:prstGeom prst="rect">
            <a:avLst/>
          </a:prstGeom>
          <a:noFill/>
        </p:spPr>
        <p:txBody>
          <a:bodyPr wrap="square" lIns="27432" rIns="27432" tIns="27432" bIns="27432" anchor="t">
            <a:spAutoFit/>
          </a:bodyPr>
          <a:lstStyle/>
          <a:p>
            <a:pPr algn="ctr">
              <a:spcAft>
                <a:spcPts val="500"/>
              </a:spcAft>
              <a:defRPr sz="1000" b="0" i="0">
                <a:solidFill>
                  <a:srgbClr val="27313E"/>
                </a:solidFill>
                <a:latin typeface="Aptos"/>
              </a:defRPr>
            </a:pPr>
            <a:r>
              <a:t>Select other.wav</a:t>
            </a:r>
          </a:p>
        </p:txBody>
      </p:sp>
      <p:sp>
        <p:nvSpPr>
          <p:cNvPr id="20" name="Rounded Rectangle 19"/>
          <p:cNvSpPr/>
          <p:nvPr/>
        </p:nvSpPr>
        <p:spPr>
          <a:xfrm>
            <a:off x="8997696" y="1645920"/>
            <a:ext cx="2331720" cy="914400"/>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07424" y="1783080"/>
            <a:ext cx="2112263" cy="256032"/>
          </a:xfrm>
          <a:prstGeom prst="rect">
            <a:avLst/>
          </a:prstGeom>
          <a:noFill/>
        </p:spPr>
        <p:txBody>
          <a:bodyPr wrap="square" lIns="27432" rIns="27432" tIns="27432" bIns="27432" anchor="t">
            <a:spAutoFit/>
          </a:bodyPr>
          <a:lstStyle/>
          <a:p>
            <a:pPr algn="ctr">
              <a:spcAft>
                <a:spcPts val="500"/>
              </a:spcAft>
              <a:defRPr sz="1300" b="1" i="0">
                <a:solidFill>
                  <a:srgbClr val="00858B"/>
                </a:solidFill>
                <a:latin typeface="Aptos"/>
              </a:defRPr>
            </a:pPr>
            <a:r>
              <a:t>5  Window + CLAP</a:t>
            </a:r>
          </a:p>
        </p:txBody>
      </p:sp>
      <p:sp>
        <p:nvSpPr>
          <p:cNvPr id="22" name="TextBox 21"/>
          <p:cNvSpPr txBox="1"/>
          <p:nvPr/>
        </p:nvSpPr>
        <p:spPr>
          <a:xfrm>
            <a:off x="9107424" y="2130552"/>
            <a:ext cx="2112263" cy="228600"/>
          </a:xfrm>
          <a:prstGeom prst="rect">
            <a:avLst/>
          </a:prstGeom>
          <a:noFill/>
        </p:spPr>
        <p:txBody>
          <a:bodyPr wrap="square" lIns="27432" rIns="27432" tIns="27432" bIns="27432" anchor="t">
            <a:spAutoFit/>
          </a:bodyPr>
          <a:lstStyle/>
          <a:p>
            <a:pPr algn="ctr">
              <a:spcAft>
                <a:spcPts val="500"/>
              </a:spcAft>
              <a:defRPr sz="1000" b="0" i="0">
                <a:solidFill>
                  <a:srgbClr val="27313E"/>
                </a:solidFill>
                <a:latin typeface="Aptos"/>
              </a:defRPr>
            </a:pPr>
            <a:r>
              <a:t>1-second windows</a:t>
            </a:r>
          </a:p>
        </p:txBody>
      </p:sp>
      <p:cxnSp>
        <p:nvCxnSpPr>
          <p:cNvPr id="23" name="Connector 22"/>
          <p:cNvCxnSpPr/>
          <p:nvPr/>
        </p:nvCxnSpPr>
        <p:spPr>
          <a:xfrm>
            <a:off x="2523744" y="2103120"/>
            <a:ext cx="182880" cy="0"/>
          </a:xfrm>
          <a:prstGeom prst="line">
            <a:avLst/>
          </a:prstGeom>
          <a:ln w="25400">
            <a:solidFill>
              <a:srgbClr val="00858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608576" y="2103120"/>
            <a:ext cx="182880" cy="0"/>
          </a:xfrm>
          <a:prstGeom prst="line">
            <a:avLst/>
          </a:prstGeom>
          <a:ln w="25400">
            <a:solidFill>
              <a:srgbClr val="00858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693408" y="2103120"/>
            <a:ext cx="182880" cy="0"/>
          </a:xfrm>
          <a:prstGeom prst="line">
            <a:avLst/>
          </a:prstGeom>
          <a:ln w="25400">
            <a:solidFill>
              <a:srgbClr val="00858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778240" y="2103120"/>
            <a:ext cx="182879" cy="0"/>
          </a:xfrm>
          <a:prstGeom prst="line">
            <a:avLst/>
          </a:prstGeom>
          <a:ln w="25400">
            <a:solidFill>
              <a:srgbClr val="00858B"/>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2743200" y="3246120"/>
            <a:ext cx="2743200" cy="960120"/>
          </a:xfrm>
          <a:prstGeom prst="roundRect">
            <a:avLst>
              <a:gd name="adj" fmla="val 12000"/>
            </a:avLst>
          </a:prstGeom>
          <a:solidFill>
            <a:srgbClr val="E7EFF8"/>
          </a:solidFill>
          <a:ln w="10160">
            <a:solidFill>
              <a:srgbClr val="E7EF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26080" y="3447288"/>
            <a:ext cx="2377440" cy="228600"/>
          </a:xfrm>
          <a:prstGeom prst="rect">
            <a:avLst/>
          </a:prstGeom>
          <a:noFill/>
        </p:spPr>
        <p:txBody>
          <a:bodyPr wrap="square" lIns="27432" rIns="27432" tIns="27432" bIns="27432" anchor="t">
            <a:spAutoFit/>
          </a:bodyPr>
          <a:lstStyle/>
          <a:p>
            <a:pPr algn="ctr">
              <a:spcAft>
                <a:spcPts val="500"/>
              </a:spcAft>
              <a:defRPr sz="1400" b="1" i="0">
                <a:solidFill>
                  <a:srgbClr val="142744"/>
                </a:solidFill>
                <a:latin typeface="Aptos"/>
              </a:defRPr>
            </a:pPr>
            <a:r>
              <a:t>6  Score aggregation</a:t>
            </a:r>
          </a:p>
        </p:txBody>
      </p:sp>
      <p:sp>
        <p:nvSpPr>
          <p:cNvPr id="29" name="TextBox 28"/>
          <p:cNvSpPr txBox="1"/>
          <p:nvPr/>
        </p:nvSpPr>
        <p:spPr>
          <a:xfrm>
            <a:off x="2926080" y="3767328"/>
            <a:ext cx="2377440" cy="228600"/>
          </a:xfrm>
          <a:prstGeom prst="rect">
            <a:avLst/>
          </a:prstGeom>
          <a:noFill/>
        </p:spPr>
        <p:txBody>
          <a:bodyPr wrap="square" lIns="27432" rIns="27432" tIns="27432" bIns="27432" anchor="t">
            <a:spAutoFit/>
          </a:bodyPr>
          <a:lstStyle/>
          <a:p>
            <a:pPr algn="ctr">
              <a:spcAft>
                <a:spcPts val="500"/>
              </a:spcAft>
              <a:defRPr sz="1100" b="0" i="0">
                <a:solidFill>
                  <a:srgbClr val="27313E"/>
                </a:solidFill>
                <a:latin typeface="Aptos"/>
              </a:defRPr>
            </a:pPr>
            <a:r>
              <a:t>Mean window scores × 100</a:t>
            </a:r>
          </a:p>
        </p:txBody>
      </p:sp>
      <p:sp>
        <p:nvSpPr>
          <p:cNvPr id="30" name="Rounded Rectangle 29"/>
          <p:cNvSpPr/>
          <p:nvPr/>
        </p:nvSpPr>
        <p:spPr>
          <a:xfrm>
            <a:off x="6400800" y="3246120"/>
            <a:ext cx="2743200" cy="960120"/>
          </a:xfrm>
          <a:prstGeom prst="roundRect">
            <a:avLst>
              <a:gd name="adj" fmla="val 12000"/>
            </a:avLst>
          </a:prstGeom>
          <a:solidFill>
            <a:srgbClr val="E2F3F1"/>
          </a:solidFill>
          <a:ln w="10160">
            <a:solidFill>
              <a:srgbClr val="E2F3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0" y="3447288"/>
            <a:ext cx="2377440" cy="228600"/>
          </a:xfrm>
          <a:prstGeom prst="rect">
            <a:avLst/>
          </a:prstGeom>
          <a:noFill/>
        </p:spPr>
        <p:txBody>
          <a:bodyPr wrap="square" lIns="27432" rIns="27432" tIns="27432" bIns="27432" anchor="t">
            <a:spAutoFit/>
          </a:bodyPr>
          <a:lstStyle/>
          <a:p>
            <a:pPr algn="ctr">
              <a:spcAft>
                <a:spcPts val="500"/>
              </a:spcAft>
              <a:defRPr sz="1400" b="1" i="0">
                <a:solidFill>
                  <a:srgbClr val="142744"/>
                </a:solidFill>
                <a:latin typeface="Aptos"/>
              </a:defRPr>
            </a:pPr>
            <a:r>
              <a:t>7  JSON response</a:t>
            </a:r>
          </a:p>
        </p:txBody>
      </p:sp>
      <p:sp>
        <p:nvSpPr>
          <p:cNvPr id="32" name="TextBox 31"/>
          <p:cNvSpPr txBox="1"/>
          <p:nvPr/>
        </p:nvSpPr>
        <p:spPr>
          <a:xfrm>
            <a:off x="6583680" y="3767328"/>
            <a:ext cx="2377440" cy="228600"/>
          </a:xfrm>
          <a:prstGeom prst="rect">
            <a:avLst/>
          </a:prstGeom>
          <a:noFill/>
        </p:spPr>
        <p:txBody>
          <a:bodyPr wrap="square" lIns="27432" rIns="27432" tIns="27432" bIns="27432" anchor="t">
            <a:spAutoFit/>
          </a:bodyPr>
          <a:lstStyle/>
          <a:p>
            <a:pPr algn="ctr">
              <a:spcAft>
                <a:spcPts val="500"/>
              </a:spcAft>
              <a:defRPr sz="1100" b="0" i="0">
                <a:solidFill>
                  <a:srgbClr val="27313E"/>
                </a:solidFill>
                <a:latin typeface="Aptos"/>
              </a:defRPr>
            </a:pPr>
            <a:r>
              <a:t>Scores • timeline • coverage</a:t>
            </a:r>
          </a:p>
        </p:txBody>
      </p:sp>
      <p:cxnSp>
        <p:nvCxnSpPr>
          <p:cNvPr id="33" name="Connector 32"/>
          <p:cNvCxnSpPr/>
          <p:nvPr/>
        </p:nvCxnSpPr>
        <p:spPr>
          <a:xfrm flipH="1">
            <a:off x="7772400" y="2606040"/>
            <a:ext cx="2377440" cy="640080"/>
          </a:xfrm>
          <a:prstGeom prst="line">
            <a:avLst/>
          </a:prstGeom>
          <a:ln w="22860">
            <a:solidFill>
              <a:srgbClr val="00858B"/>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4114800" y="2743200"/>
            <a:ext cx="0" cy="502920"/>
          </a:xfrm>
          <a:prstGeom prst="line">
            <a:avLst/>
          </a:prstGeom>
          <a:ln w="22860">
            <a:solidFill>
              <a:srgbClr val="00858B"/>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486400" y="3730752"/>
            <a:ext cx="914400" cy="0"/>
          </a:xfrm>
          <a:prstGeom prst="line">
            <a:avLst/>
          </a:prstGeom>
          <a:ln w="22860">
            <a:solidFill>
              <a:srgbClr val="00858B"/>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77240" y="4709160"/>
            <a:ext cx="10607040" cy="777240"/>
          </a:xfrm>
          <a:prstGeom prst="rect">
            <a:avLst/>
          </a:prstGeom>
          <a:noFill/>
        </p:spPr>
        <p:txBody>
          <a:bodyPr wrap="square" lIns="27432" rIns="27432" tIns="27432" bIns="27432" anchor="t">
            <a:spAutoFit/>
          </a:bodyPr>
          <a:lstStyle/>
          <a:p>
            <a:pPr algn="l">
              <a:spcAft>
                <a:spcPts val="500"/>
              </a:spcAft>
              <a:defRPr sz="1300" b="0" i="0">
                <a:solidFill>
                  <a:srgbClr val="27313E"/>
                </a:solidFill>
                <a:latin typeface="Aptos"/>
              </a:defRPr>
            </a:pPr>
            <a:r>
              <a:t>Implementation notes: accepted formats MP3 / WAV / FLAC • maximum upload 100 MB • default batch size 16 • model: laion/clap-htsat-unfused (pretrained, inference mode).</a:t>
            </a:r>
          </a:p>
        </p:txBody>
      </p:sp>
      <p:sp>
        <p:nvSpPr>
          <p:cNvPr id="37" name="TextBox 36"/>
          <p:cNvSpPr txBox="1"/>
          <p:nvPr/>
        </p:nvSpPr>
        <p:spPr>
          <a:xfrm>
            <a:off x="777240" y="5623560"/>
            <a:ext cx="10607040" cy="384048"/>
          </a:xfrm>
          <a:prstGeom prst="rect">
            <a:avLst/>
          </a:prstGeom>
          <a:noFill/>
        </p:spPr>
        <p:txBody>
          <a:bodyPr wrap="square" lIns="27432" rIns="27432" tIns="27432" bIns="27432" anchor="t">
            <a:spAutoFit/>
          </a:bodyPr>
          <a:lstStyle/>
          <a:p>
            <a:pPr algn="l">
              <a:spcAft>
                <a:spcPts val="500"/>
              </a:spcAft>
              <a:defRPr sz="1000" b="0" i="1">
                <a:solidFill>
                  <a:srgbClr val="626F7E"/>
                </a:solidFill>
                <a:latin typeface="Aptos"/>
              </a:defRPr>
            </a:pPr>
            <a:r>
              <a:t>Separate MIR ideas (tempo, key, mood, similarity search, artist-style inference) are not claimed as integrated into this primary API workflow.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085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6400800" cy="219456"/>
          </a:xfrm>
          <a:prstGeom prst="rect">
            <a:avLst/>
          </a:prstGeom>
          <a:noFill/>
        </p:spPr>
        <p:txBody>
          <a:bodyPr wrap="square" lIns="27432" rIns="27432" tIns="27432" bIns="27432" anchor="t">
            <a:spAutoFit/>
          </a:bodyPr>
          <a:lstStyle/>
          <a:p>
            <a:pPr algn="l">
              <a:spcAft>
                <a:spcPts val="500"/>
              </a:spcAft>
              <a:defRPr sz="900" b="1" i="0">
                <a:solidFill>
                  <a:srgbClr val="00858B"/>
                </a:solidFill>
                <a:latin typeface="Aptos"/>
              </a:defRPr>
            </a:pPr>
            <a:r>
              <a:t>IMPLEMENTATION</a:t>
            </a:r>
          </a:p>
        </p:txBody>
      </p:sp>
      <p:sp>
        <p:nvSpPr>
          <p:cNvPr id="4" name="TextBox 3"/>
          <p:cNvSpPr txBox="1"/>
          <p:nvPr/>
        </p:nvSpPr>
        <p:spPr>
          <a:xfrm>
            <a:off x="594360" y="566928"/>
            <a:ext cx="10972800" cy="502920"/>
          </a:xfrm>
          <a:prstGeom prst="rect">
            <a:avLst/>
          </a:prstGeom>
          <a:noFill/>
        </p:spPr>
        <p:txBody>
          <a:bodyPr wrap="square" lIns="27432" rIns="27432" tIns="27432" bIns="27432" anchor="t">
            <a:spAutoFit/>
          </a:bodyPr>
          <a:lstStyle/>
          <a:p>
            <a:pPr algn="l">
              <a:spcAft>
                <a:spcPts val="500"/>
              </a:spcAft>
              <a:defRPr sz="2700" b="1" i="0">
                <a:solidFill>
                  <a:srgbClr val="142744"/>
                </a:solidFill>
                <a:latin typeface="Aptos Display"/>
              </a:defRPr>
            </a:pPr>
            <a:r>
              <a:t>Functional Requirements</a:t>
            </a:r>
          </a:p>
        </p:txBody>
      </p:sp>
      <p:sp>
        <p:nvSpPr>
          <p:cNvPr id="5" name="Rectangle 4"/>
          <p:cNvSpPr/>
          <p:nvPr/>
        </p:nvSpPr>
        <p:spPr>
          <a:xfrm>
            <a:off x="594360" y="1170432"/>
            <a:ext cx="10972800" cy="16459"/>
          </a:xfrm>
          <a:prstGeom prst="rect">
            <a:avLst/>
          </a:prstGeom>
          <a:solidFill>
            <a:srgbClr val="D8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6547104"/>
            <a:ext cx="7315200" cy="164592"/>
          </a:xfrm>
          <a:prstGeom prst="rect">
            <a:avLst/>
          </a:prstGeom>
          <a:noFill/>
        </p:spPr>
        <p:txBody>
          <a:bodyPr wrap="square" lIns="27432" rIns="27432" tIns="27432" bIns="27432" anchor="t">
            <a:spAutoFit/>
          </a:bodyPr>
          <a:lstStyle/>
          <a:p>
            <a:pPr algn="l">
              <a:spcAft>
                <a:spcPts val="500"/>
              </a:spcAft>
              <a:defRPr sz="800" b="1" i="0">
                <a:solidFill>
                  <a:srgbClr val="626F7E"/>
                </a:solidFill>
                <a:latin typeface="Aptos"/>
              </a:defRPr>
            </a:pPr>
            <a:r>
              <a:t>AI-BASED MUSIC INSTRUMENT RECOGNITION SYSTEM  •  PROJECT REVIEW</a:t>
            </a:r>
          </a:p>
        </p:txBody>
      </p:sp>
      <p:sp>
        <p:nvSpPr>
          <p:cNvPr id="7" name="TextBox 6"/>
          <p:cNvSpPr txBox="1"/>
          <p:nvPr/>
        </p:nvSpPr>
        <p:spPr>
          <a:xfrm>
            <a:off x="11109960" y="6519672"/>
            <a:ext cx="457200" cy="201168"/>
          </a:xfrm>
          <a:prstGeom prst="rect">
            <a:avLst/>
          </a:prstGeom>
          <a:noFill/>
        </p:spPr>
        <p:txBody>
          <a:bodyPr wrap="square" lIns="27432" rIns="27432" tIns="27432" bIns="27432" anchor="t">
            <a:spAutoFit/>
          </a:bodyPr>
          <a:lstStyle/>
          <a:p>
            <a:pPr algn="r">
              <a:spcAft>
                <a:spcPts val="500"/>
              </a:spcAft>
              <a:defRPr sz="800" b="1" i="0">
                <a:solidFill>
                  <a:srgbClr val="626F7E"/>
                </a:solidFill>
                <a:latin typeface="Aptos"/>
              </a:defRPr>
            </a:pPr>
            <a:r>
              <a:t>09 / 14</a:t>
            </a:r>
          </a:p>
        </p:txBody>
      </p:sp>
      <p:sp>
        <p:nvSpPr>
          <p:cNvPr id="8" name="Rounded Rectangle 7"/>
          <p:cNvSpPr/>
          <p:nvPr/>
        </p:nvSpPr>
        <p:spPr>
          <a:xfrm>
            <a:off x="731520" y="1444752"/>
            <a:ext cx="5212080" cy="987552"/>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444752"/>
            <a:ext cx="64008" cy="987552"/>
          </a:xfrm>
          <a:prstGeom prst="rect">
            <a:avLst/>
          </a:prstGeom>
          <a:solidFill>
            <a:srgbClr val="2D6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591056"/>
            <a:ext cx="4828032" cy="310896"/>
          </a:xfrm>
          <a:prstGeom prst="rect">
            <a:avLst/>
          </a:prstGeom>
          <a:noFill/>
        </p:spPr>
        <p:txBody>
          <a:bodyPr wrap="square" lIns="27432" rIns="27432" tIns="27432" bIns="27432" anchor="t">
            <a:spAutoFit/>
          </a:bodyPr>
          <a:lstStyle/>
          <a:p>
            <a:pPr algn="l">
              <a:spcAft>
                <a:spcPts val="500"/>
              </a:spcAft>
              <a:defRPr sz="1600" b="1" i="0">
                <a:solidFill>
                  <a:srgbClr val="142744"/>
                </a:solidFill>
                <a:latin typeface="Aptos"/>
              </a:defRPr>
            </a:pPr>
            <a:r>
              <a:t>Input &amp; validation</a:t>
            </a:r>
          </a:p>
        </p:txBody>
      </p:sp>
      <p:sp>
        <p:nvSpPr>
          <p:cNvPr id="11" name="TextBox 10"/>
          <p:cNvSpPr txBox="1"/>
          <p:nvPr/>
        </p:nvSpPr>
        <p:spPr>
          <a:xfrm>
            <a:off x="932688" y="1975104"/>
            <a:ext cx="4828032" cy="329184"/>
          </a:xfrm>
          <a:prstGeom prst="rect">
            <a:avLst/>
          </a:prstGeom>
          <a:noFill/>
        </p:spPr>
        <p:txBody>
          <a:bodyPr wrap="square" lIns="27432" rIns="27432" tIns="27432" bIns="27432" anchor="t">
            <a:spAutoFit/>
          </a:bodyPr>
          <a:lstStyle/>
          <a:p>
            <a:pPr algn="l">
              <a:spcAft>
                <a:spcPts val="500"/>
              </a:spcAft>
              <a:defRPr sz="1200" b="0" i="0">
                <a:solidFill>
                  <a:srgbClr val="27313E"/>
                </a:solidFill>
                <a:latin typeface="Aptos"/>
              </a:defRPr>
            </a:pPr>
            <a:r>
              <a:t>Accept MP3, WAV, FLAC up to 100 MB; reject unsupported or invalid uploads.</a:t>
            </a:r>
          </a:p>
        </p:txBody>
      </p:sp>
      <p:sp>
        <p:nvSpPr>
          <p:cNvPr id="12" name="Rounded Rectangle 11"/>
          <p:cNvSpPr/>
          <p:nvPr/>
        </p:nvSpPr>
        <p:spPr>
          <a:xfrm>
            <a:off x="6263640" y="1444752"/>
            <a:ext cx="5212080" cy="987552"/>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444752"/>
            <a:ext cx="64008" cy="987552"/>
          </a:xfrm>
          <a:prstGeom prst="rect">
            <a:avLst/>
          </a:prstGeom>
          <a:solidFill>
            <a:srgbClr val="0085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7" y="1591056"/>
            <a:ext cx="4828032" cy="310896"/>
          </a:xfrm>
          <a:prstGeom prst="rect">
            <a:avLst/>
          </a:prstGeom>
          <a:noFill/>
        </p:spPr>
        <p:txBody>
          <a:bodyPr wrap="square" lIns="27432" rIns="27432" tIns="27432" bIns="27432" anchor="t">
            <a:spAutoFit/>
          </a:bodyPr>
          <a:lstStyle/>
          <a:p>
            <a:pPr algn="l">
              <a:spcAft>
                <a:spcPts val="500"/>
              </a:spcAft>
              <a:defRPr sz="1600" b="1" i="0">
                <a:solidFill>
                  <a:srgbClr val="142744"/>
                </a:solidFill>
                <a:latin typeface="Aptos"/>
              </a:defRPr>
            </a:pPr>
            <a:r>
              <a:t>Audio preparation</a:t>
            </a:r>
          </a:p>
        </p:txBody>
      </p:sp>
      <p:sp>
        <p:nvSpPr>
          <p:cNvPr id="15" name="TextBox 14"/>
          <p:cNvSpPr txBox="1"/>
          <p:nvPr/>
        </p:nvSpPr>
        <p:spPr>
          <a:xfrm>
            <a:off x="6464807" y="1975104"/>
            <a:ext cx="4828032" cy="329184"/>
          </a:xfrm>
          <a:prstGeom prst="rect">
            <a:avLst/>
          </a:prstGeom>
          <a:noFill/>
        </p:spPr>
        <p:txBody>
          <a:bodyPr wrap="square" lIns="27432" rIns="27432" tIns="27432" bIns="27432" anchor="t">
            <a:spAutoFit/>
          </a:bodyPr>
          <a:lstStyle/>
          <a:p>
            <a:pPr algn="l">
              <a:spcAft>
                <a:spcPts val="500"/>
              </a:spcAft>
              <a:defRPr sz="1200" b="0" i="0">
                <a:solidFill>
                  <a:srgbClr val="27313E"/>
                </a:solidFill>
                <a:latin typeface="Aptos"/>
              </a:defRPr>
            </a:pPr>
            <a:r>
              <a:t>Decode to mono at 48 kHz and prepare the waveform for processing.</a:t>
            </a:r>
          </a:p>
        </p:txBody>
      </p:sp>
      <p:sp>
        <p:nvSpPr>
          <p:cNvPr id="16" name="Rounded Rectangle 15"/>
          <p:cNvSpPr/>
          <p:nvPr/>
        </p:nvSpPr>
        <p:spPr>
          <a:xfrm>
            <a:off x="731520" y="2651760"/>
            <a:ext cx="5212080" cy="987552"/>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2651760"/>
            <a:ext cx="64008" cy="987552"/>
          </a:xfrm>
          <a:prstGeom prst="rect">
            <a:avLst/>
          </a:prstGeom>
          <a:solidFill>
            <a:srgbClr val="2D6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2798064"/>
            <a:ext cx="4828032" cy="310896"/>
          </a:xfrm>
          <a:prstGeom prst="rect">
            <a:avLst/>
          </a:prstGeom>
          <a:noFill/>
        </p:spPr>
        <p:txBody>
          <a:bodyPr wrap="square" lIns="27432" rIns="27432" tIns="27432" bIns="27432" anchor="t">
            <a:spAutoFit/>
          </a:bodyPr>
          <a:lstStyle/>
          <a:p>
            <a:pPr algn="l">
              <a:spcAft>
                <a:spcPts val="500"/>
              </a:spcAft>
              <a:defRPr sz="1600" b="1" i="0">
                <a:solidFill>
                  <a:srgbClr val="142744"/>
                </a:solidFill>
                <a:latin typeface="Aptos"/>
              </a:defRPr>
            </a:pPr>
            <a:r>
              <a:t>Source separation</a:t>
            </a:r>
          </a:p>
        </p:txBody>
      </p:sp>
      <p:sp>
        <p:nvSpPr>
          <p:cNvPr id="19" name="TextBox 18"/>
          <p:cNvSpPr txBox="1"/>
          <p:nvPr/>
        </p:nvSpPr>
        <p:spPr>
          <a:xfrm>
            <a:off x="932688" y="3182112"/>
            <a:ext cx="4828032" cy="329184"/>
          </a:xfrm>
          <a:prstGeom prst="rect">
            <a:avLst/>
          </a:prstGeom>
          <a:noFill/>
        </p:spPr>
        <p:txBody>
          <a:bodyPr wrap="square" lIns="27432" rIns="27432" tIns="27432" bIns="27432" anchor="t">
            <a:spAutoFit/>
          </a:bodyPr>
          <a:lstStyle/>
          <a:p>
            <a:pPr algn="l">
              <a:spcAft>
                <a:spcPts val="500"/>
              </a:spcAft>
              <a:defRPr sz="1200" b="0" i="0">
                <a:solidFill>
                  <a:srgbClr val="27313E"/>
                </a:solidFill>
                <a:latin typeface="Aptos"/>
              </a:defRPr>
            </a:pPr>
            <a:r>
              <a:t>Run Demucs htdemucs and select the `other.wav` stem.</a:t>
            </a:r>
          </a:p>
        </p:txBody>
      </p:sp>
      <p:sp>
        <p:nvSpPr>
          <p:cNvPr id="20" name="Rounded Rectangle 19"/>
          <p:cNvSpPr/>
          <p:nvPr/>
        </p:nvSpPr>
        <p:spPr>
          <a:xfrm>
            <a:off x="6263640" y="2651760"/>
            <a:ext cx="5212080" cy="987552"/>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63640" y="2651760"/>
            <a:ext cx="64008" cy="987552"/>
          </a:xfrm>
          <a:prstGeom prst="rect">
            <a:avLst/>
          </a:prstGeom>
          <a:solidFill>
            <a:srgbClr val="0085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64807" y="2798064"/>
            <a:ext cx="4828032" cy="310896"/>
          </a:xfrm>
          <a:prstGeom prst="rect">
            <a:avLst/>
          </a:prstGeom>
          <a:noFill/>
        </p:spPr>
        <p:txBody>
          <a:bodyPr wrap="square" lIns="27432" rIns="27432" tIns="27432" bIns="27432" anchor="t">
            <a:spAutoFit/>
          </a:bodyPr>
          <a:lstStyle/>
          <a:p>
            <a:pPr algn="l">
              <a:spcAft>
                <a:spcPts val="500"/>
              </a:spcAft>
              <a:defRPr sz="1600" b="1" i="0">
                <a:solidFill>
                  <a:srgbClr val="142744"/>
                </a:solidFill>
                <a:latin typeface="Aptos"/>
              </a:defRPr>
            </a:pPr>
            <a:r>
              <a:t>Window inference</a:t>
            </a:r>
          </a:p>
        </p:txBody>
      </p:sp>
      <p:sp>
        <p:nvSpPr>
          <p:cNvPr id="23" name="TextBox 22"/>
          <p:cNvSpPr txBox="1"/>
          <p:nvPr/>
        </p:nvSpPr>
        <p:spPr>
          <a:xfrm>
            <a:off x="6464807" y="3182112"/>
            <a:ext cx="4828032" cy="329184"/>
          </a:xfrm>
          <a:prstGeom prst="rect">
            <a:avLst/>
          </a:prstGeom>
          <a:noFill/>
        </p:spPr>
        <p:txBody>
          <a:bodyPr wrap="square" lIns="27432" rIns="27432" tIns="27432" bIns="27432" anchor="t">
            <a:spAutoFit/>
          </a:bodyPr>
          <a:lstStyle/>
          <a:p>
            <a:pPr algn="l">
              <a:spcAft>
                <a:spcPts val="500"/>
              </a:spcAft>
              <a:defRPr sz="1200" b="0" i="0">
                <a:solidFill>
                  <a:srgbClr val="27313E"/>
                </a:solidFill>
                <a:latin typeface="Aptos"/>
              </a:defRPr>
            </a:pPr>
            <a:r>
              <a:t>Split into one-second windows, pad the final partial window, and score instrument prompts with CLAP.</a:t>
            </a:r>
          </a:p>
        </p:txBody>
      </p:sp>
      <p:sp>
        <p:nvSpPr>
          <p:cNvPr id="24" name="Rounded Rectangle 23"/>
          <p:cNvSpPr/>
          <p:nvPr/>
        </p:nvSpPr>
        <p:spPr>
          <a:xfrm>
            <a:off x="731520" y="3858768"/>
            <a:ext cx="5212080" cy="987552"/>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 y="3858768"/>
            <a:ext cx="64008" cy="987552"/>
          </a:xfrm>
          <a:prstGeom prst="rect">
            <a:avLst/>
          </a:prstGeom>
          <a:solidFill>
            <a:srgbClr val="2D6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 y="4005072"/>
            <a:ext cx="4828032" cy="310896"/>
          </a:xfrm>
          <a:prstGeom prst="rect">
            <a:avLst/>
          </a:prstGeom>
          <a:noFill/>
        </p:spPr>
        <p:txBody>
          <a:bodyPr wrap="square" lIns="27432" rIns="27432" tIns="27432" bIns="27432" anchor="t">
            <a:spAutoFit/>
          </a:bodyPr>
          <a:lstStyle/>
          <a:p>
            <a:pPr algn="l">
              <a:spcAft>
                <a:spcPts val="500"/>
              </a:spcAft>
              <a:defRPr sz="1600" b="1" i="0">
                <a:solidFill>
                  <a:srgbClr val="142744"/>
                </a:solidFill>
                <a:latin typeface="Aptos"/>
              </a:defRPr>
            </a:pPr>
            <a:r>
              <a:t>Aggregation</a:t>
            </a:r>
          </a:p>
        </p:txBody>
      </p:sp>
      <p:sp>
        <p:nvSpPr>
          <p:cNvPr id="27" name="TextBox 26"/>
          <p:cNvSpPr txBox="1"/>
          <p:nvPr/>
        </p:nvSpPr>
        <p:spPr>
          <a:xfrm>
            <a:off x="932688" y="4389120"/>
            <a:ext cx="4828032" cy="329184"/>
          </a:xfrm>
          <a:prstGeom prst="rect">
            <a:avLst/>
          </a:prstGeom>
          <a:noFill/>
        </p:spPr>
        <p:txBody>
          <a:bodyPr wrap="square" lIns="27432" rIns="27432" tIns="27432" bIns="27432" anchor="t">
            <a:spAutoFit/>
          </a:bodyPr>
          <a:lstStyle/>
          <a:p>
            <a:pPr algn="l">
              <a:spcAft>
                <a:spcPts val="500"/>
              </a:spcAft>
              <a:defRPr sz="1200" b="0" i="0">
                <a:solidFill>
                  <a:srgbClr val="27313E"/>
                </a:solidFill>
                <a:latin typeface="Aptos"/>
              </a:defRPr>
            </a:pPr>
            <a:r>
              <a:t>Aggregate window-level scores into song-level similarity indices and temporal evidence.</a:t>
            </a:r>
          </a:p>
        </p:txBody>
      </p:sp>
      <p:sp>
        <p:nvSpPr>
          <p:cNvPr id="28" name="Rounded Rectangle 27"/>
          <p:cNvSpPr/>
          <p:nvPr/>
        </p:nvSpPr>
        <p:spPr>
          <a:xfrm>
            <a:off x="6263640" y="3858768"/>
            <a:ext cx="5212080" cy="987552"/>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63640" y="3858768"/>
            <a:ext cx="64008" cy="987552"/>
          </a:xfrm>
          <a:prstGeom prst="rect">
            <a:avLst/>
          </a:prstGeom>
          <a:solidFill>
            <a:srgbClr val="0085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4005072"/>
            <a:ext cx="4828032" cy="310896"/>
          </a:xfrm>
          <a:prstGeom prst="rect">
            <a:avLst/>
          </a:prstGeom>
          <a:noFill/>
        </p:spPr>
        <p:txBody>
          <a:bodyPr wrap="square" lIns="27432" rIns="27432" tIns="27432" bIns="27432" anchor="t">
            <a:spAutoFit/>
          </a:bodyPr>
          <a:lstStyle/>
          <a:p>
            <a:pPr algn="l">
              <a:spcAft>
                <a:spcPts val="500"/>
              </a:spcAft>
              <a:defRPr sz="1600" b="1" i="0">
                <a:solidFill>
                  <a:srgbClr val="142744"/>
                </a:solidFill>
                <a:latin typeface="Aptos"/>
              </a:defRPr>
            </a:pPr>
            <a:r>
              <a:t>API response</a:t>
            </a:r>
          </a:p>
        </p:txBody>
      </p:sp>
      <p:sp>
        <p:nvSpPr>
          <p:cNvPr id="31" name="TextBox 30"/>
          <p:cNvSpPr txBox="1"/>
          <p:nvPr/>
        </p:nvSpPr>
        <p:spPr>
          <a:xfrm>
            <a:off x="6464807" y="4389120"/>
            <a:ext cx="4828032" cy="329184"/>
          </a:xfrm>
          <a:prstGeom prst="rect">
            <a:avLst/>
          </a:prstGeom>
          <a:noFill/>
        </p:spPr>
        <p:txBody>
          <a:bodyPr wrap="square" lIns="27432" rIns="27432" tIns="27432" bIns="27432" anchor="t">
            <a:spAutoFit/>
          </a:bodyPr>
          <a:lstStyle/>
          <a:p>
            <a:pPr algn="l">
              <a:spcAft>
                <a:spcPts val="500"/>
              </a:spcAft>
              <a:defRPr sz="1200" b="0" i="0">
                <a:solidFill>
                  <a:srgbClr val="27313E"/>
                </a:solidFill>
                <a:latin typeface="Aptos"/>
              </a:defRPr>
            </a:pPr>
            <a:r>
              <a:t>Return metadata, window scores, timeline information, coverage, and compatibility aliases.</a:t>
            </a:r>
          </a:p>
        </p:txBody>
      </p:sp>
      <p:sp>
        <p:nvSpPr>
          <p:cNvPr id="32" name="Rounded Rectangle 31"/>
          <p:cNvSpPr/>
          <p:nvPr/>
        </p:nvSpPr>
        <p:spPr>
          <a:xfrm>
            <a:off x="731520" y="5065776"/>
            <a:ext cx="5212080" cy="987552"/>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1520" y="5065776"/>
            <a:ext cx="64008" cy="987552"/>
          </a:xfrm>
          <a:prstGeom prst="rect">
            <a:avLst/>
          </a:prstGeom>
          <a:solidFill>
            <a:srgbClr val="2D6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2688" y="5212080"/>
            <a:ext cx="4828032" cy="310896"/>
          </a:xfrm>
          <a:prstGeom prst="rect">
            <a:avLst/>
          </a:prstGeom>
          <a:noFill/>
        </p:spPr>
        <p:txBody>
          <a:bodyPr wrap="square" lIns="27432" rIns="27432" tIns="27432" bIns="27432" anchor="t">
            <a:spAutoFit/>
          </a:bodyPr>
          <a:lstStyle/>
          <a:p>
            <a:pPr algn="l">
              <a:spcAft>
                <a:spcPts val="500"/>
              </a:spcAft>
              <a:defRPr sz="1600" b="1" i="0">
                <a:solidFill>
                  <a:srgbClr val="142744"/>
                </a:solidFill>
                <a:latin typeface="Aptos"/>
              </a:defRPr>
            </a:pPr>
            <a:r>
              <a:t>Health endpoints</a:t>
            </a:r>
          </a:p>
        </p:txBody>
      </p:sp>
      <p:sp>
        <p:nvSpPr>
          <p:cNvPr id="35" name="TextBox 34"/>
          <p:cNvSpPr txBox="1"/>
          <p:nvPr/>
        </p:nvSpPr>
        <p:spPr>
          <a:xfrm>
            <a:off x="932688" y="5596128"/>
            <a:ext cx="4828032" cy="329184"/>
          </a:xfrm>
          <a:prstGeom prst="rect">
            <a:avLst/>
          </a:prstGeom>
          <a:noFill/>
        </p:spPr>
        <p:txBody>
          <a:bodyPr wrap="square" lIns="27432" rIns="27432" tIns="27432" bIns="27432" anchor="t">
            <a:spAutoFit/>
          </a:bodyPr>
          <a:lstStyle/>
          <a:p>
            <a:pPr algn="l">
              <a:spcAft>
                <a:spcPts val="500"/>
              </a:spcAft>
              <a:defRPr sz="1200" b="0" i="0">
                <a:solidFill>
                  <a:srgbClr val="27313E"/>
                </a:solidFill>
                <a:latin typeface="Aptos"/>
              </a:defRPr>
            </a:pPr>
            <a:r>
              <a:t>Expose `GET /`, `GET /api/health`, and `POST /api/analyze`.</a:t>
            </a:r>
          </a:p>
        </p:txBody>
      </p:sp>
      <p:sp>
        <p:nvSpPr>
          <p:cNvPr id="36" name="TextBox 35"/>
          <p:cNvSpPr txBox="1"/>
          <p:nvPr/>
        </p:nvSpPr>
        <p:spPr>
          <a:xfrm>
            <a:off x="777240" y="6355080"/>
            <a:ext cx="10698480" cy="91440"/>
          </a:xfrm>
          <a:prstGeom prst="rect">
            <a:avLst/>
          </a:prstGeom>
          <a:noFill/>
        </p:spPr>
        <p:txBody>
          <a:bodyPr wrap="square" lIns="27432" rIns="27432" tIns="27432" bIns="27432" anchor="t">
            <a:spAutoFit/>
          </a:bodyPr>
          <a:lstStyle/>
          <a:p>
            <a:pPr algn="l">
              <a:spcAft>
                <a:spcPts val="500"/>
              </a:spcAft>
              <a:defRPr sz="800" b="0" i="0">
                <a:solidFill>
                  <a:srgbClr val="27313E"/>
                </a:solidFill>
                <a:latin typeface="Aptos"/>
              </a:defRPr>
            </a:p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085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6400800" cy="219456"/>
          </a:xfrm>
          <a:prstGeom prst="rect">
            <a:avLst/>
          </a:prstGeom>
          <a:noFill/>
        </p:spPr>
        <p:txBody>
          <a:bodyPr wrap="square" lIns="27432" rIns="27432" tIns="27432" bIns="27432" anchor="t">
            <a:spAutoFit/>
          </a:bodyPr>
          <a:lstStyle/>
          <a:p>
            <a:pPr algn="l">
              <a:spcAft>
                <a:spcPts val="500"/>
              </a:spcAft>
              <a:defRPr sz="900" b="1" i="0">
                <a:solidFill>
                  <a:srgbClr val="00858B"/>
                </a:solidFill>
                <a:latin typeface="Aptos"/>
              </a:defRPr>
            </a:pPr>
            <a:r>
              <a:t>IMPLEMENTATION</a:t>
            </a:r>
          </a:p>
        </p:txBody>
      </p:sp>
      <p:sp>
        <p:nvSpPr>
          <p:cNvPr id="4" name="TextBox 3"/>
          <p:cNvSpPr txBox="1"/>
          <p:nvPr/>
        </p:nvSpPr>
        <p:spPr>
          <a:xfrm>
            <a:off x="594360" y="566928"/>
            <a:ext cx="10972800" cy="502920"/>
          </a:xfrm>
          <a:prstGeom prst="rect">
            <a:avLst/>
          </a:prstGeom>
          <a:noFill/>
        </p:spPr>
        <p:txBody>
          <a:bodyPr wrap="square" lIns="27432" rIns="27432" tIns="27432" bIns="27432" anchor="t">
            <a:spAutoFit/>
          </a:bodyPr>
          <a:lstStyle/>
          <a:p>
            <a:pPr algn="l">
              <a:spcAft>
                <a:spcPts val="500"/>
              </a:spcAft>
              <a:defRPr sz="2700" b="1" i="0">
                <a:solidFill>
                  <a:srgbClr val="142744"/>
                </a:solidFill>
                <a:latin typeface="Aptos Display"/>
              </a:defRPr>
            </a:pPr>
            <a:r>
              <a:t>System Modules</a:t>
            </a:r>
          </a:p>
        </p:txBody>
      </p:sp>
      <p:sp>
        <p:nvSpPr>
          <p:cNvPr id="5" name="Rectangle 4"/>
          <p:cNvSpPr/>
          <p:nvPr/>
        </p:nvSpPr>
        <p:spPr>
          <a:xfrm>
            <a:off x="594360" y="1170432"/>
            <a:ext cx="10972800" cy="16459"/>
          </a:xfrm>
          <a:prstGeom prst="rect">
            <a:avLst/>
          </a:prstGeom>
          <a:solidFill>
            <a:srgbClr val="D8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6547104"/>
            <a:ext cx="7315200" cy="164592"/>
          </a:xfrm>
          <a:prstGeom prst="rect">
            <a:avLst/>
          </a:prstGeom>
          <a:noFill/>
        </p:spPr>
        <p:txBody>
          <a:bodyPr wrap="square" lIns="27432" rIns="27432" tIns="27432" bIns="27432" anchor="t">
            <a:spAutoFit/>
          </a:bodyPr>
          <a:lstStyle/>
          <a:p>
            <a:pPr algn="l">
              <a:spcAft>
                <a:spcPts val="500"/>
              </a:spcAft>
              <a:defRPr sz="800" b="1" i="0">
                <a:solidFill>
                  <a:srgbClr val="626F7E"/>
                </a:solidFill>
                <a:latin typeface="Aptos"/>
              </a:defRPr>
            </a:pPr>
            <a:r>
              <a:t>AI-BASED MUSIC INSTRUMENT RECOGNITION SYSTEM  •  PROJECT REVIEW</a:t>
            </a:r>
          </a:p>
        </p:txBody>
      </p:sp>
      <p:sp>
        <p:nvSpPr>
          <p:cNvPr id="7" name="TextBox 6"/>
          <p:cNvSpPr txBox="1"/>
          <p:nvPr/>
        </p:nvSpPr>
        <p:spPr>
          <a:xfrm>
            <a:off x="11109960" y="6519672"/>
            <a:ext cx="457200" cy="201168"/>
          </a:xfrm>
          <a:prstGeom prst="rect">
            <a:avLst/>
          </a:prstGeom>
          <a:noFill/>
        </p:spPr>
        <p:txBody>
          <a:bodyPr wrap="square" lIns="27432" rIns="27432" tIns="27432" bIns="27432" anchor="t">
            <a:spAutoFit/>
          </a:bodyPr>
          <a:lstStyle/>
          <a:p>
            <a:pPr algn="r">
              <a:spcAft>
                <a:spcPts val="500"/>
              </a:spcAft>
              <a:defRPr sz="800" b="1" i="0">
                <a:solidFill>
                  <a:srgbClr val="626F7E"/>
                </a:solidFill>
                <a:latin typeface="Aptos"/>
              </a:defRPr>
            </a:pPr>
            <a:r>
              <a:t>10 / 14</a:t>
            </a:r>
          </a:p>
        </p:txBody>
      </p:sp>
      <p:sp>
        <p:nvSpPr>
          <p:cNvPr id="8" name="Rounded Rectangle 7"/>
          <p:cNvSpPr/>
          <p:nvPr/>
        </p:nvSpPr>
        <p:spPr>
          <a:xfrm>
            <a:off x="713232" y="1554480"/>
            <a:ext cx="3474720" cy="1691640"/>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96112" y="1719072"/>
            <a:ext cx="502920" cy="310896"/>
          </a:xfrm>
          <a:prstGeom prst="roundRect">
            <a:avLst>
              <a:gd name="adj" fmla="val 12000"/>
            </a:avLst>
          </a:prstGeom>
          <a:solidFill>
            <a:srgbClr val="E7EFF8"/>
          </a:solidFill>
          <a:ln w="10160">
            <a:solidFill>
              <a:srgbClr val="E7EF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1751075"/>
            <a:ext cx="411480" cy="201168"/>
          </a:xfrm>
          <a:prstGeom prst="rect">
            <a:avLst/>
          </a:prstGeom>
          <a:noFill/>
        </p:spPr>
        <p:txBody>
          <a:bodyPr wrap="square" lIns="27432" rIns="27432" tIns="27432" bIns="27432" anchor="t">
            <a:spAutoFit/>
          </a:bodyPr>
          <a:lstStyle/>
          <a:p>
            <a:pPr algn="ctr">
              <a:spcAft>
                <a:spcPts val="500"/>
              </a:spcAft>
              <a:defRPr sz="1000" b="1" i="0">
                <a:solidFill>
                  <a:srgbClr val="2D65A3"/>
                </a:solidFill>
                <a:latin typeface="Aptos"/>
              </a:defRPr>
            </a:pPr>
            <a:r>
              <a:t>01</a:t>
            </a:r>
          </a:p>
        </p:txBody>
      </p:sp>
      <p:sp>
        <p:nvSpPr>
          <p:cNvPr id="11" name="TextBox 10"/>
          <p:cNvSpPr txBox="1"/>
          <p:nvPr/>
        </p:nvSpPr>
        <p:spPr>
          <a:xfrm>
            <a:off x="896112" y="2148840"/>
            <a:ext cx="3063240" cy="292608"/>
          </a:xfrm>
          <a:prstGeom prst="rect">
            <a:avLst/>
          </a:prstGeom>
          <a:noFill/>
        </p:spPr>
        <p:txBody>
          <a:bodyPr wrap="square" lIns="27432" rIns="27432" tIns="27432" bIns="27432" anchor="t">
            <a:spAutoFit/>
          </a:bodyPr>
          <a:lstStyle/>
          <a:p>
            <a:pPr algn="l">
              <a:spcAft>
                <a:spcPts val="500"/>
              </a:spcAft>
              <a:defRPr sz="1500" b="1" i="0">
                <a:solidFill>
                  <a:srgbClr val="142744"/>
                </a:solidFill>
                <a:latin typeface="Aptos"/>
              </a:defRPr>
            </a:pPr>
            <a:r>
              <a:t>Frontend &amp; interaction</a:t>
            </a:r>
          </a:p>
        </p:txBody>
      </p:sp>
      <p:sp>
        <p:nvSpPr>
          <p:cNvPr id="12" name="TextBox 11"/>
          <p:cNvSpPr txBox="1"/>
          <p:nvPr/>
        </p:nvSpPr>
        <p:spPr>
          <a:xfrm>
            <a:off x="896112" y="2542032"/>
            <a:ext cx="3063240" cy="566928"/>
          </a:xfrm>
          <a:prstGeom prst="rect">
            <a:avLst/>
          </a:prstGeom>
          <a:noFill/>
        </p:spPr>
        <p:txBody>
          <a:bodyPr wrap="square" lIns="27432" rIns="27432" tIns="27432" bIns="27432" anchor="t">
            <a:spAutoFit/>
          </a:bodyPr>
          <a:lstStyle/>
          <a:p>
            <a:pPr algn="l">
              <a:spcAft>
                <a:spcPts val="500"/>
              </a:spcAft>
              <a:defRPr sz="1200" b="0" i="0">
                <a:solidFill>
                  <a:srgbClr val="27313E"/>
                </a:solidFill>
                <a:latin typeface="Aptos"/>
              </a:defRPr>
            </a:pPr>
            <a:r>
              <a:t>React interface for file selection, local preview, progress feedback, and result visualisation.</a:t>
            </a:r>
          </a:p>
        </p:txBody>
      </p:sp>
      <p:sp>
        <p:nvSpPr>
          <p:cNvPr id="13" name="Rounded Rectangle 12"/>
          <p:cNvSpPr/>
          <p:nvPr/>
        </p:nvSpPr>
        <p:spPr>
          <a:xfrm>
            <a:off x="4507992" y="1554480"/>
            <a:ext cx="3474720" cy="1691640"/>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690872" y="1719072"/>
            <a:ext cx="502920" cy="310896"/>
          </a:xfrm>
          <a:prstGeom prst="roundRect">
            <a:avLst>
              <a:gd name="adj" fmla="val 12000"/>
            </a:avLst>
          </a:prstGeom>
          <a:solidFill>
            <a:srgbClr val="E7EFF8"/>
          </a:solidFill>
          <a:ln w="10160">
            <a:solidFill>
              <a:srgbClr val="E7EF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751075"/>
            <a:ext cx="411480" cy="201168"/>
          </a:xfrm>
          <a:prstGeom prst="rect">
            <a:avLst/>
          </a:prstGeom>
          <a:noFill/>
        </p:spPr>
        <p:txBody>
          <a:bodyPr wrap="square" lIns="27432" rIns="27432" tIns="27432" bIns="27432" anchor="t">
            <a:spAutoFit/>
          </a:bodyPr>
          <a:lstStyle/>
          <a:p>
            <a:pPr algn="ctr">
              <a:spcAft>
                <a:spcPts val="500"/>
              </a:spcAft>
              <a:defRPr sz="1000" b="1" i="0">
                <a:solidFill>
                  <a:srgbClr val="2D65A3"/>
                </a:solidFill>
                <a:latin typeface="Aptos"/>
              </a:defRPr>
            </a:pPr>
            <a:r>
              <a:t>02</a:t>
            </a:r>
          </a:p>
        </p:txBody>
      </p:sp>
      <p:sp>
        <p:nvSpPr>
          <p:cNvPr id="16" name="TextBox 15"/>
          <p:cNvSpPr txBox="1"/>
          <p:nvPr/>
        </p:nvSpPr>
        <p:spPr>
          <a:xfrm>
            <a:off x="4690872" y="2148840"/>
            <a:ext cx="3063240" cy="292608"/>
          </a:xfrm>
          <a:prstGeom prst="rect">
            <a:avLst/>
          </a:prstGeom>
          <a:noFill/>
        </p:spPr>
        <p:txBody>
          <a:bodyPr wrap="square" lIns="27432" rIns="27432" tIns="27432" bIns="27432" anchor="t">
            <a:spAutoFit/>
          </a:bodyPr>
          <a:lstStyle/>
          <a:p>
            <a:pPr algn="l">
              <a:spcAft>
                <a:spcPts val="500"/>
              </a:spcAft>
              <a:defRPr sz="1500" b="1" i="0">
                <a:solidFill>
                  <a:srgbClr val="142744"/>
                </a:solidFill>
                <a:latin typeface="Aptos"/>
              </a:defRPr>
            </a:pPr>
            <a:r>
              <a:t>API &amp; validation</a:t>
            </a:r>
          </a:p>
        </p:txBody>
      </p:sp>
      <p:sp>
        <p:nvSpPr>
          <p:cNvPr id="17" name="TextBox 16"/>
          <p:cNvSpPr txBox="1"/>
          <p:nvPr/>
        </p:nvSpPr>
        <p:spPr>
          <a:xfrm>
            <a:off x="4690872" y="2542032"/>
            <a:ext cx="3063240" cy="566928"/>
          </a:xfrm>
          <a:prstGeom prst="rect">
            <a:avLst/>
          </a:prstGeom>
          <a:noFill/>
        </p:spPr>
        <p:txBody>
          <a:bodyPr wrap="square" lIns="27432" rIns="27432" tIns="27432" bIns="27432" anchor="t">
            <a:spAutoFit/>
          </a:bodyPr>
          <a:lstStyle/>
          <a:p>
            <a:pPr algn="l">
              <a:spcAft>
                <a:spcPts val="500"/>
              </a:spcAft>
              <a:defRPr sz="1200" b="0" i="0">
                <a:solidFill>
                  <a:srgbClr val="27313E"/>
                </a:solidFill>
                <a:latin typeface="Aptos"/>
              </a:defRPr>
            </a:pPr>
            <a:r>
              <a:t>FastAPI endpoints, file checks, request handling, and structured response delivery.</a:t>
            </a:r>
          </a:p>
        </p:txBody>
      </p:sp>
      <p:sp>
        <p:nvSpPr>
          <p:cNvPr id="18" name="Rounded Rectangle 17"/>
          <p:cNvSpPr/>
          <p:nvPr/>
        </p:nvSpPr>
        <p:spPr>
          <a:xfrm>
            <a:off x="8302752" y="1554480"/>
            <a:ext cx="3474720" cy="1691640"/>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485632" y="1719072"/>
            <a:ext cx="502920" cy="310896"/>
          </a:xfrm>
          <a:prstGeom prst="roundRect">
            <a:avLst>
              <a:gd name="adj" fmla="val 12000"/>
            </a:avLst>
          </a:prstGeom>
          <a:solidFill>
            <a:srgbClr val="E7EFF8"/>
          </a:solidFill>
          <a:ln w="10160">
            <a:solidFill>
              <a:srgbClr val="E7EF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31352" y="1751075"/>
            <a:ext cx="411480" cy="201168"/>
          </a:xfrm>
          <a:prstGeom prst="rect">
            <a:avLst/>
          </a:prstGeom>
          <a:noFill/>
        </p:spPr>
        <p:txBody>
          <a:bodyPr wrap="square" lIns="27432" rIns="27432" tIns="27432" bIns="27432" anchor="t">
            <a:spAutoFit/>
          </a:bodyPr>
          <a:lstStyle/>
          <a:p>
            <a:pPr algn="ctr">
              <a:spcAft>
                <a:spcPts val="500"/>
              </a:spcAft>
              <a:defRPr sz="1000" b="1" i="0">
                <a:solidFill>
                  <a:srgbClr val="2D65A3"/>
                </a:solidFill>
                <a:latin typeface="Aptos"/>
              </a:defRPr>
            </a:pPr>
            <a:r>
              <a:t>03</a:t>
            </a:r>
          </a:p>
        </p:txBody>
      </p:sp>
      <p:sp>
        <p:nvSpPr>
          <p:cNvPr id="21" name="TextBox 20"/>
          <p:cNvSpPr txBox="1"/>
          <p:nvPr/>
        </p:nvSpPr>
        <p:spPr>
          <a:xfrm>
            <a:off x="8485632" y="2148840"/>
            <a:ext cx="3063240" cy="292608"/>
          </a:xfrm>
          <a:prstGeom prst="rect">
            <a:avLst/>
          </a:prstGeom>
          <a:noFill/>
        </p:spPr>
        <p:txBody>
          <a:bodyPr wrap="square" lIns="27432" rIns="27432" tIns="27432" bIns="27432" anchor="t">
            <a:spAutoFit/>
          </a:bodyPr>
          <a:lstStyle/>
          <a:p>
            <a:pPr algn="l">
              <a:spcAft>
                <a:spcPts val="500"/>
              </a:spcAft>
              <a:defRPr sz="1500" b="1" i="0">
                <a:solidFill>
                  <a:srgbClr val="142744"/>
                </a:solidFill>
                <a:latin typeface="Aptos"/>
              </a:defRPr>
            </a:pPr>
            <a:r>
              <a:t>Audio preprocessing</a:t>
            </a:r>
          </a:p>
        </p:txBody>
      </p:sp>
      <p:sp>
        <p:nvSpPr>
          <p:cNvPr id="22" name="TextBox 21"/>
          <p:cNvSpPr txBox="1"/>
          <p:nvPr/>
        </p:nvSpPr>
        <p:spPr>
          <a:xfrm>
            <a:off x="8485632" y="2542032"/>
            <a:ext cx="3063240" cy="566928"/>
          </a:xfrm>
          <a:prstGeom prst="rect">
            <a:avLst/>
          </a:prstGeom>
          <a:noFill/>
        </p:spPr>
        <p:txBody>
          <a:bodyPr wrap="square" lIns="27432" rIns="27432" tIns="27432" bIns="27432" anchor="t">
            <a:spAutoFit/>
          </a:bodyPr>
          <a:lstStyle/>
          <a:p>
            <a:pPr algn="l">
              <a:spcAft>
                <a:spcPts val="500"/>
              </a:spcAft>
              <a:defRPr sz="1200" b="0" i="0">
                <a:solidFill>
                  <a:srgbClr val="27313E"/>
                </a:solidFill>
                <a:latin typeface="Aptos"/>
              </a:defRPr>
            </a:pPr>
            <a:r>
              <a:t>Audio decoding, mono conversion, 48 kHz resampling, and window preparation.</a:t>
            </a:r>
          </a:p>
        </p:txBody>
      </p:sp>
      <p:sp>
        <p:nvSpPr>
          <p:cNvPr id="23" name="Rounded Rectangle 22"/>
          <p:cNvSpPr/>
          <p:nvPr/>
        </p:nvSpPr>
        <p:spPr>
          <a:xfrm>
            <a:off x="713232" y="3611880"/>
            <a:ext cx="3474720" cy="1691640"/>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96112" y="3776472"/>
            <a:ext cx="502920" cy="310896"/>
          </a:xfrm>
          <a:prstGeom prst="roundRect">
            <a:avLst>
              <a:gd name="adj" fmla="val 12000"/>
            </a:avLst>
          </a:prstGeom>
          <a:solidFill>
            <a:srgbClr val="E7EFF8"/>
          </a:solidFill>
          <a:ln w="10160">
            <a:solidFill>
              <a:srgbClr val="E7EF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1832" y="3808476"/>
            <a:ext cx="411480" cy="201168"/>
          </a:xfrm>
          <a:prstGeom prst="rect">
            <a:avLst/>
          </a:prstGeom>
          <a:noFill/>
        </p:spPr>
        <p:txBody>
          <a:bodyPr wrap="square" lIns="27432" rIns="27432" tIns="27432" bIns="27432" anchor="t">
            <a:spAutoFit/>
          </a:bodyPr>
          <a:lstStyle/>
          <a:p>
            <a:pPr algn="ctr">
              <a:spcAft>
                <a:spcPts val="500"/>
              </a:spcAft>
              <a:defRPr sz="1000" b="1" i="0">
                <a:solidFill>
                  <a:srgbClr val="2D65A3"/>
                </a:solidFill>
                <a:latin typeface="Aptos"/>
              </a:defRPr>
            </a:pPr>
            <a:r>
              <a:t>04</a:t>
            </a:r>
          </a:p>
        </p:txBody>
      </p:sp>
      <p:sp>
        <p:nvSpPr>
          <p:cNvPr id="26" name="TextBox 25"/>
          <p:cNvSpPr txBox="1"/>
          <p:nvPr/>
        </p:nvSpPr>
        <p:spPr>
          <a:xfrm>
            <a:off x="896112" y="4206240"/>
            <a:ext cx="3063240" cy="292608"/>
          </a:xfrm>
          <a:prstGeom prst="rect">
            <a:avLst/>
          </a:prstGeom>
          <a:noFill/>
        </p:spPr>
        <p:txBody>
          <a:bodyPr wrap="square" lIns="27432" rIns="27432" tIns="27432" bIns="27432" anchor="t">
            <a:spAutoFit/>
          </a:bodyPr>
          <a:lstStyle/>
          <a:p>
            <a:pPr algn="l">
              <a:spcAft>
                <a:spcPts val="500"/>
              </a:spcAft>
              <a:defRPr sz="1500" b="1" i="0">
                <a:solidFill>
                  <a:srgbClr val="142744"/>
                </a:solidFill>
                <a:latin typeface="Aptos"/>
              </a:defRPr>
            </a:pPr>
            <a:r>
              <a:t>Source separation</a:t>
            </a:r>
          </a:p>
        </p:txBody>
      </p:sp>
      <p:sp>
        <p:nvSpPr>
          <p:cNvPr id="27" name="TextBox 26"/>
          <p:cNvSpPr txBox="1"/>
          <p:nvPr/>
        </p:nvSpPr>
        <p:spPr>
          <a:xfrm>
            <a:off x="896112" y="4599432"/>
            <a:ext cx="3063240" cy="566928"/>
          </a:xfrm>
          <a:prstGeom prst="rect">
            <a:avLst/>
          </a:prstGeom>
          <a:noFill/>
        </p:spPr>
        <p:txBody>
          <a:bodyPr wrap="square" lIns="27432" rIns="27432" tIns="27432" bIns="27432" anchor="t">
            <a:spAutoFit/>
          </a:bodyPr>
          <a:lstStyle/>
          <a:p>
            <a:pPr algn="l">
              <a:spcAft>
                <a:spcPts val="500"/>
              </a:spcAft>
              <a:defRPr sz="1200" b="0" i="0">
                <a:solidFill>
                  <a:srgbClr val="27313E"/>
                </a:solidFill>
                <a:latin typeface="Aptos"/>
              </a:defRPr>
            </a:pPr>
            <a:r>
              <a:t>Demucs htdemucs separation with the selected `other.wav` stem.</a:t>
            </a:r>
          </a:p>
        </p:txBody>
      </p:sp>
      <p:sp>
        <p:nvSpPr>
          <p:cNvPr id="28" name="Rounded Rectangle 27"/>
          <p:cNvSpPr/>
          <p:nvPr/>
        </p:nvSpPr>
        <p:spPr>
          <a:xfrm>
            <a:off x="4507992" y="3611880"/>
            <a:ext cx="3474720" cy="1691640"/>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690872" y="3776472"/>
            <a:ext cx="502920" cy="310896"/>
          </a:xfrm>
          <a:prstGeom prst="roundRect">
            <a:avLst>
              <a:gd name="adj" fmla="val 12000"/>
            </a:avLst>
          </a:prstGeom>
          <a:solidFill>
            <a:srgbClr val="E7EFF8"/>
          </a:solidFill>
          <a:ln w="10160">
            <a:solidFill>
              <a:srgbClr val="E7EF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36592" y="3808476"/>
            <a:ext cx="411480" cy="201168"/>
          </a:xfrm>
          <a:prstGeom prst="rect">
            <a:avLst/>
          </a:prstGeom>
          <a:noFill/>
        </p:spPr>
        <p:txBody>
          <a:bodyPr wrap="square" lIns="27432" rIns="27432" tIns="27432" bIns="27432" anchor="t">
            <a:spAutoFit/>
          </a:bodyPr>
          <a:lstStyle/>
          <a:p>
            <a:pPr algn="ctr">
              <a:spcAft>
                <a:spcPts val="500"/>
              </a:spcAft>
              <a:defRPr sz="1000" b="1" i="0">
                <a:solidFill>
                  <a:srgbClr val="2D65A3"/>
                </a:solidFill>
                <a:latin typeface="Aptos"/>
              </a:defRPr>
            </a:pPr>
            <a:r>
              <a:t>05</a:t>
            </a:r>
          </a:p>
        </p:txBody>
      </p:sp>
      <p:sp>
        <p:nvSpPr>
          <p:cNvPr id="31" name="TextBox 30"/>
          <p:cNvSpPr txBox="1"/>
          <p:nvPr/>
        </p:nvSpPr>
        <p:spPr>
          <a:xfrm>
            <a:off x="4690872" y="4206240"/>
            <a:ext cx="3063240" cy="292608"/>
          </a:xfrm>
          <a:prstGeom prst="rect">
            <a:avLst/>
          </a:prstGeom>
          <a:noFill/>
        </p:spPr>
        <p:txBody>
          <a:bodyPr wrap="square" lIns="27432" rIns="27432" tIns="27432" bIns="27432" anchor="t">
            <a:spAutoFit/>
          </a:bodyPr>
          <a:lstStyle/>
          <a:p>
            <a:pPr algn="l">
              <a:spcAft>
                <a:spcPts val="500"/>
              </a:spcAft>
              <a:defRPr sz="1500" b="1" i="0">
                <a:solidFill>
                  <a:srgbClr val="142744"/>
                </a:solidFill>
                <a:latin typeface="Aptos"/>
              </a:defRPr>
            </a:pPr>
            <a:r>
              <a:t>Instrument scoring</a:t>
            </a:r>
          </a:p>
        </p:txBody>
      </p:sp>
      <p:sp>
        <p:nvSpPr>
          <p:cNvPr id="32" name="TextBox 31"/>
          <p:cNvSpPr txBox="1"/>
          <p:nvPr/>
        </p:nvSpPr>
        <p:spPr>
          <a:xfrm>
            <a:off x="4690872" y="4599432"/>
            <a:ext cx="3063240" cy="566928"/>
          </a:xfrm>
          <a:prstGeom prst="rect">
            <a:avLst/>
          </a:prstGeom>
          <a:noFill/>
        </p:spPr>
        <p:txBody>
          <a:bodyPr wrap="square" lIns="27432" rIns="27432" tIns="27432" bIns="27432" anchor="t">
            <a:spAutoFit/>
          </a:bodyPr>
          <a:lstStyle/>
          <a:p>
            <a:pPr algn="l">
              <a:spcAft>
                <a:spcPts val="500"/>
              </a:spcAft>
              <a:defRPr sz="1200" b="0" i="0">
                <a:solidFill>
                  <a:srgbClr val="27313E"/>
                </a:solidFill>
                <a:latin typeface="Aptos"/>
              </a:defRPr>
            </a:pPr>
            <a:r>
              <a:t>Pretrained CLAP compares each window with instrument text prompts.</a:t>
            </a:r>
          </a:p>
        </p:txBody>
      </p:sp>
      <p:sp>
        <p:nvSpPr>
          <p:cNvPr id="33" name="Rounded Rectangle 32"/>
          <p:cNvSpPr/>
          <p:nvPr/>
        </p:nvSpPr>
        <p:spPr>
          <a:xfrm>
            <a:off x="8302752" y="3611880"/>
            <a:ext cx="3474720" cy="1691640"/>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485632" y="3776472"/>
            <a:ext cx="502920" cy="310896"/>
          </a:xfrm>
          <a:prstGeom prst="roundRect">
            <a:avLst>
              <a:gd name="adj" fmla="val 12000"/>
            </a:avLst>
          </a:prstGeom>
          <a:solidFill>
            <a:srgbClr val="E7EFF8"/>
          </a:solidFill>
          <a:ln w="10160">
            <a:solidFill>
              <a:srgbClr val="E7EF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31352" y="3808476"/>
            <a:ext cx="411480" cy="201168"/>
          </a:xfrm>
          <a:prstGeom prst="rect">
            <a:avLst/>
          </a:prstGeom>
          <a:noFill/>
        </p:spPr>
        <p:txBody>
          <a:bodyPr wrap="square" lIns="27432" rIns="27432" tIns="27432" bIns="27432" anchor="t">
            <a:spAutoFit/>
          </a:bodyPr>
          <a:lstStyle/>
          <a:p>
            <a:pPr algn="ctr">
              <a:spcAft>
                <a:spcPts val="500"/>
              </a:spcAft>
              <a:defRPr sz="1000" b="1" i="0">
                <a:solidFill>
                  <a:srgbClr val="2D65A3"/>
                </a:solidFill>
                <a:latin typeface="Aptos"/>
              </a:defRPr>
            </a:pPr>
            <a:r>
              <a:t>06</a:t>
            </a:r>
          </a:p>
        </p:txBody>
      </p:sp>
      <p:sp>
        <p:nvSpPr>
          <p:cNvPr id="36" name="TextBox 35"/>
          <p:cNvSpPr txBox="1"/>
          <p:nvPr/>
        </p:nvSpPr>
        <p:spPr>
          <a:xfrm>
            <a:off x="8485632" y="4206240"/>
            <a:ext cx="3063240" cy="292608"/>
          </a:xfrm>
          <a:prstGeom prst="rect">
            <a:avLst/>
          </a:prstGeom>
          <a:noFill/>
        </p:spPr>
        <p:txBody>
          <a:bodyPr wrap="square" lIns="27432" rIns="27432" tIns="27432" bIns="27432" anchor="t">
            <a:spAutoFit/>
          </a:bodyPr>
          <a:lstStyle/>
          <a:p>
            <a:pPr algn="l">
              <a:spcAft>
                <a:spcPts val="500"/>
              </a:spcAft>
              <a:defRPr sz="1500" b="1" i="0">
                <a:solidFill>
                  <a:srgbClr val="142744"/>
                </a:solidFill>
                <a:latin typeface="Aptos"/>
              </a:defRPr>
            </a:pPr>
            <a:r>
              <a:t>Aggregation &amp; output</a:t>
            </a:r>
          </a:p>
        </p:txBody>
      </p:sp>
      <p:sp>
        <p:nvSpPr>
          <p:cNvPr id="37" name="TextBox 36"/>
          <p:cNvSpPr txBox="1"/>
          <p:nvPr/>
        </p:nvSpPr>
        <p:spPr>
          <a:xfrm>
            <a:off x="8485632" y="4599432"/>
            <a:ext cx="3063240" cy="566928"/>
          </a:xfrm>
          <a:prstGeom prst="rect">
            <a:avLst/>
          </a:prstGeom>
          <a:noFill/>
        </p:spPr>
        <p:txBody>
          <a:bodyPr wrap="square" lIns="27432" rIns="27432" tIns="27432" bIns="27432" anchor="t">
            <a:spAutoFit/>
          </a:bodyPr>
          <a:lstStyle/>
          <a:p>
            <a:pPr algn="l">
              <a:spcAft>
                <a:spcPts val="500"/>
              </a:spcAft>
              <a:defRPr sz="1200" b="0" i="0">
                <a:solidFill>
                  <a:srgbClr val="27313E"/>
                </a:solidFill>
                <a:latin typeface="Aptos"/>
              </a:defRPr>
            </a:pPr>
            <a:r>
              <a:t>Song-level similarity indices, temporal scores, coverage, and response metadata.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085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6400800" cy="219456"/>
          </a:xfrm>
          <a:prstGeom prst="rect">
            <a:avLst/>
          </a:prstGeom>
          <a:noFill/>
        </p:spPr>
        <p:txBody>
          <a:bodyPr wrap="square" lIns="27432" rIns="27432" tIns="27432" bIns="27432" anchor="t">
            <a:spAutoFit/>
          </a:bodyPr>
          <a:lstStyle/>
          <a:p>
            <a:pPr algn="l">
              <a:spcAft>
                <a:spcPts val="500"/>
              </a:spcAft>
              <a:defRPr sz="900" b="1" i="0">
                <a:solidFill>
                  <a:srgbClr val="00858B"/>
                </a:solidFill>
                <a:latin typeface="Aptos"/>
              </a:defRPr>
            </a:pPr>
            <a:r>
              <a:t>EVALUATION STATUS</a:t>
            </a:r>
          </a:p>
        </p:txBody>
      </p:sp>
      <p:sp>
        <p:nvSpPr>
          <p:cNvPr id="4" name="TextBox 3"/>
          <p:cNvSpPr txBox="1"/>
          <p:nvPr/>
        </p:nvSpPr>
        <p:spPr>
          <a:xfrm>
            <a:off x="594360" y="566928"/>
            <a:ext cx="10972800" cy="502920"/>
          </a:xfrm>
          <a:prstGeom prst="rect">
            <a:avLst/>
          </a:prstGeom>
          <a:noFill/>
        </p:spPr>
        <p:txBody>
          <a:bodyPr wrap="square" lIns="27432" rIns="27432" tIns="27432" bIns="27432" anchor="t">
            <a:spAutoFit/>
          </a:bodyPr>
          <a:lstStyle/>
          <a:p>
            <a:pPr algn="l">
              <a:spcAft>
                <a:spcPts val="500"/>
              </a:spcAft>
              <a:defRPr sz="2700" b="1" i="0">
                <a:solidFill>
                  <a:srgbClr val="142744"/>
                </a:solidFill>
                <a:latin typeface="Aptos Display"/>
              </a:defRPr>
            </a:pPr>
            <a:r>
              <a:t>Experiments and Results</a:t>
            </a:r>
          </a:p>
        </p:txBody>
      </p:sp>
      <p:sp>
        <p:nvSpPr>
          <p:cNvPr id="5" name="Rectangle 4"/>
          <p:cNvSpPr/>
          <p:nvPr/>
        </p:nvSpPr>
        <p:spPr>
          <a:xfrm>
            <a:off x="594360" y="1170432"/>
            <a:ext cx="10972800" cy="16459"/>
          </a:xfrm>
          <a:prstGeom prst="rect">
            <a:avLst/>
          </a:prstGeom>
          <a:solidFill>
            <a:srgbClr val="D8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6547104"/>
            <a:ext cx="7315200" cy="164592"/>
          </a:xfrm>
          <a:prstGeom prst="rect">
            <a:avLst/>
          </a:prstGeom>
          <a:noFill/>
        </p:spPr>
        <p:txBody>
          <a:bodyPr wrap="square" lIns="27432" rIns="27432" tIns="27432" bIns="27432" anchor="t">
            <a:spAutoFit/>
          </a:bodyPr>
          <a:lstStyle/>
          <a:p>
            <a:pPr algn="l">
              <a:spcAft>
                <a:spcPts val="500"/>
              </a:spcAft>
              <a:defRPr sz="800" b="1" i="0">
                <a:solidFill>
                  <a:srgbClr val="626F7E"/>
                </a:solidFill>
                <a:latin typeface="Aptos"/>
              </a:defRPr>
            </a:pPr>
            <a:r>
              <a:t>AI-BASED MUSIC INSTRUMENT RECOGNITION SYSTEM  •  PROJECT REVIEW</a:t>
            </a:r>
          </a:p>
        </p:txBody>
      </p:sp>
      <p:sp>
        <p:nvSpPr>
          <p:cNvPr id="7" name="TextBox 6"/>
          <p:cNvSpPr txBox="1"/>
          <p:nvPr/>
        </p:nvSpPr>
        <p:spPr>
          <a:xfrm>
            <a:off x="11109960" y="6519672"/>
            <a:ext cx="457200" cy="201168"/>
          </a:xfrm>
          <a:prstGeom prst="rect">
            <a:avLst/>
          </a:prstGeom>
          <a:noFill/>
        </p:spPr>
        <p:txBody>
          <a:bodyPr wrap="square" lIns="27432" rIns="27432" tIns="27432" bIns="27432" anchor="t">
            <a:spAutoFit/>
          </a:bodyPr>
          <a:lstStyle/>
          <a:p>
            <a:pPr algn="r">
              <a:spcAft>
                <a:spcPts val="500"/>
              </a:spcAft>
              <a:defRPr sz="800" b="1" i="0">
                <a:solidFill>
                  <a:srgbClr val="626F7E"/>
                </a:solidFill>
                <a:latin typeface="Aptos"/>
              </a:defRPr>
            </a:pPr>
            <a:r>
              <a:t>11 / 14</a:t>
            </a:r>
          </a:p>
        </p:txBody>
      </p:sp>
      <p:sp>
        <p:nvSpPr>
          <p:cNvPr id="8" name="Rounded Rectangle 7"/>
          <p:cNvSpPr/>
          <p:nvPr/>
        </p:nvSpPr>
        <p:spPr>
          <a:xfrm>
            <a:off x="749808" y="1417320"/>
            <a:ext cx="2011680" cy="310896"/>
          </a:xfrm>
          <a:prstGeom prst="roundRect">
            <a:avLst>
              <a:gd name="adj" fmla="val 12000"/>
            </a:avLst>
          </a:prstGeom>
          <a:solidFill>
            <a:srgbClr val="E7EFF8"/>
          </a:solidFill>
          <a:ln w="10160">
            <a:solidFill>
              <a:srgbClr val="E7EF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449324"/>
            <a:ext cx="1920240" cy="201168"/>
          </a:xfrm>
          <a:prstGeom prst="rect">
            <a:avLst/>
          </a:prstGeom>
          <a:noFill/>
        </p:spPr>
        <p:txBody>
          <a:bodyPr wrap="square" lIns="27432" rIns="27432" tIns="27432" bIns="27432" anchor="t">
            <a:spAutoFit/>
          </a:bodyPr>
          <a:lstStyle/>
          <a:p>
            <a:pPr algn="ctr">
              <a:spcAft>
                <a:spcPts val="500"/>
              </a:spcAft>
              <a:defRPr sz="1000" b="1" i="0">
                <a:solidFill>
                  <a:srgbClr val="2D65A3"/>
                </a:solidFill>
                <a:latin typeface="Aptos"/>
              </a:defRPr>
            </a:pPr>
            <a:r>
              <a:t>SOURCE INSPECTION ONLY</a:t>
            </a:r>
          </a:p>
        </p:txBody>
      </p:sp>
      <p:sp>
        <p:nvSpPr>
          <p:cNvPr id="10" name="TextBox 9"/>
          <p:cNvSpPr txBox="1"/>
          <p:nvPr/>
        </p:nvSpPr>
        <p:spPr>
          <a:xfrm>
            <a:off x="777240" y="1901952"/>
            <a:ext cx="4846320" cy="347472"/>
          </a:xfrm>
          <a:prstGeom prst="rect">
            <a:avLst/>
          </a:prstGeom>
          <a:noFill/>
        </p:spPr>
        <p:txBody>
          <a:bodyPr wrap="square" lIns="27432" rIns="27432" tIns="27432" bIns="27432" anchor="t">
            <a:spAutoFit/>
          </a:bodyPr>
          <a:lstStyle/>
          <a:p>
            <a:pPr algn="l">
              <a:spcAft>
                <a:spcPts val="500"/>
              </a:spcAft>
              <a:defRPr sz="1200" b="1" i="0">
                <a:solidFill>
                  <a:srgbClr val="00858B"/>
                </a:solidFill>
                <a:latin typeface="Aptos"/>
              </a:defRPr>
            </a:pPr>
            <a:r>
              <a:t>WHAT THE IMPLEMENTATION SUPPORTS</a:t>
            </a:r>
          </a:p>
        </p:txBody>
      </p:sp>
      <p:sp>
        <p:nvSpPr>
          <p:cNvPr id="11" name="TextBox 10"/>
          <p:cNvSpPr txBox="1"/>
          <p:nvPr/>
        </p:nvSpPr>
        <p:spPr>
          <a:xfrm>
            <a:off x="804672" y="2286000"/>
            <a:ext cx="4983480" cy="3017520"/>
          </a:xfrm>
          <a:prstGeom prst="rect">
            <a:avLst/>
          </a:prstGeom>
          <a:noFill/>
        </p:spPr>
        <p:txBody>
          <a:bodyPr wrap="square" lIns="18288" rIns="27432" tIns="18288" bIns="18288">
            <a:spAutoFit/>
          </a:bodyPr>
          <a:lstStyle/>
          <a:p>
            <a:pPr>
              <a:spcAft>
                <a:spcPts val="1000"/>
              </a:spcAft>
              <a:defRPr sz="1400">
                <a:solidFill>
                  <a:srgbClr val="27313E"/>
                </a:solidFill>
                <a:latin typeface="Aptos"/>
              </a:defRPr>
            </a:pPr>
            <a:r>
              <a:t>A modular upload-to-analysis backend pipeline is present.</a:t>
            </a:r>
          </a:p>
          <a:p>
            <a:pPr>
              <a:spcAft>
                <a:spcPts val="1000"/>
              </a:spcAft>
              <a:defRPr sz="1400">
                <a:solidFill>
                  <a:srgbClr val="27313E"/>
                </a:solidFill>
                <a:latin typeface="Aptos"/>
              </a:defRPr>
            </a:pPr>
            <a:r>
              <a:t>Input validation and audio standardisation are part of the workflow.</a:t>
            </a:r>
          </a:p>
          <a:p>
            <a:pPr>
              <a:spcAft>
                <a:spcPts val="1000"/>
              </a:spcAft>
              <a:defRPr sz="1400">
                <a:solidFill>
                  <a:srgbClr val="27313E"/>
                </a:solidFill>
                <a:latin typeface="Aptos"/>
              </a:defRPr>
            </a:pPr>
            <a:r>
              <a:t>Demucs separation and pretrained CLAP inference are integrated.</a:t>
            </a:r>
          </a:p>
          <a:p>
            <a:pPr>
              <a:spcAft>
                <a:spcPts val="1000"/>
              </a:spcAft>
              <a:defRPr sz="1400">
                <a:solidFill>
                  <a:srgbClr val="27313E"/>
                </a:solidFill>
                <a:latin typeface="Aptos"/>
              </a:defRPr>
            </a:pPr>
            <a:r>
              <a:t>Window-level and song-level score fields are generated.</a:t>
            </a:r>
          </a:p>
        </p:txBody>
      </p:sp>
      <p:sp>
        <p:nvSpPr>
          <p:cNvPr id="12" name="TextBox 11"/>
          <p:cNvSpPr txBox="1"/>
          <p:nvPr/>
        </p:nvSpPr>
        <p:spPr>
          <a:xfrm>
            <a:off x="6263640" y="1901952"/>
            <a:ext cx="4572000" cy="347472"/>
          </a:xfrm>
          <a:prstGeom prst="rect">
            <a:avLst/>
          </a:prstGeom>
          <a:noFill/>
        </p:spPr>
        <p:txBody>
          <a:bodyPr wrap="square" lIns="27432" rIns="27432" tIns="27432" bIns="27432" anchor="t">
            <a:spAutoFit/>
          </a:bodyPr>
          <a:lstStyle/>
          <a:p>
            <a:pPr algn="l">
              <a:spcAft>
                <a:spcPts val="500"/>
              </a:spcAft>
              <a:defRPr sz="1200" b="1" i="0">
                <a:solidFill>
                  <a:srgbClr val="CE9939"/>
                </a:solidFill>
                <a:latin typeface="Aptos"/>
              </a:defRPr>
            </a:pPr>
            <a:r>
              <a:t>WHAT IS NOT YET ESTABLISHED</a:t>
            </a:r>
          </a:p>
        </p:txBody>
      </p:sp>
      <p:sp>
        <p:nvSpPr>
          <p:cNvPr id="13" name="TextBox 12"/>
          <p:cNvSpPr txBox="1"/>
          <p:nvPr/>
        </p:nvSpPr>
        <p:spPr>
          <a:xfrm>
            <a:off x="6291072" y="2286000"/>
            <a:ext cx="4800600" cy="3017520"/>
          </a:xfrm>
          <a:prstGeom prst="rect">
            <a:avLst/>
          </a:prstGeom>
          <a:noFill/>
        </p:spPr>
        <p:txBody>
          <a:bodyPr wrap="square" lIns="18288" rIns="27432" tIns="18288" bIns="18288">
            <a:spAutoFit/>
          </a:bodyPr>
          <a:lstStyle/>
          <a:p>
            <a:pPr>
              <a:spcAft>
                <a:spcPts val="1000"/>
              </a:spcAft>
              <a:defRPr sz="1400">
                <a:solidFill>
                  <a:srgbClr val="27313E"/>
                </a:solidFill>
                <a:latin typeface="Aptos"/>
              </a:defRPr>
            </a:pPr>
            <a:r>
              <a:t>No labelled test-set accuracy is reported here.</a:t>
            </a:r>
          </a:p>
          <a:p>
            <a:pPr>
              <a:spcAft>
                <a:spcPts val="1000"/>
              </a:spcAft>
              <a:defRPr sz="1400">
                <a:solidFill>
                  <a:srgbClr val="27313E"/>
                </a:solidFill>
                <a:latin typeface="Aptos"/>
              </a:defRPr>
            </a:pPr>
            <a:r>
              <a:t>No verified latency or throughput benchmark is supplied.</a:t>
            </a:r>
          </a:p>
          <a:p>
            <a:pPr>
              <a:spcAft>
                <a:spcPts val="1000"/>
              </a:spcAft>
              <a:defRPr sz="1400">
                <a:solidFill>
                  <a:srgbClr val="27313E"/>
                </a:solidFill>
                <a:latin typeface="Aptos"/>
              </a:defRPr>
            </a:pPr>
            <a:r>
              <a:t>No claim of calibrated probability or instrument mix percentage.</a:t>
            </a:r>
          </a:p>
          <a:p>
            <a:pPr>
              <a:spcAft>
                <a:spcPts val="1000"/>
              </a:spcAft>
              <a:defRPr sz="1400">
                <a:solidFill>
                  <a:srgbClr val="27313E"/>
                </a:solidFill>
                <a:latin typeface="Aptos"/>
              </a:defRPr>
            </a:pPr>
            <a:r>
              <a:t>No proof that the estimated multi-million-file dataset is fully processed.</a:t>
            </a:r>
          </a:p>
        </p:txBody>
      </p:sp>
      <p:sp>
        <p:nvSpPr>
          <p:cNvPr id="14" name="Rounded Rectangle 13"/>
          <p:cNvSpPr/>
          <p:nvPr/>
        </p:nvSpPr>
        <p:spPr>
          <a:xfrm>
            <a:off x="777240" y="5559552"/>
            <a:ext cx="10469880" cy="548640"/>
          </a:xfrm>
          <a:prstGeom prst="roundRect">
            <a:avLst>
              <a:gd name="adj" fmla="val 12000"/>
            </a:avLst>
          </a:prstGeom>
          <a:solidFill>
            <a:srgbClr val="F2F6FA"/>
          </a:solidFill>
          <a:ln w="10160">
            <a:solidFill>
              <a:srgbClr val="F2F6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5696712"/>
            <a:ext cx="10058400" cy="256032"/>
          </a:xfrm>
          <a:prstGeom prst="rect">
            <a:avLst/>
          </a:prstGeom>
          <a:noFill/>
        </p:spPr>
        <p:txBody>
          <a:bodyPr wrap="square" lIns="27432" rIns="27432" tIns="27432" bIns="27432" anchor="t">
            <a:spAutoFit/>
          </a:bodyPr>
          <a:lstStyle/>
          <a:p>
            <a:pPr algn="l">
              <a:spcAft>
                <a:spcPts val="500"/>
              </a:spcAft>
              <a:defRPr sz="1200" b="1" i="0">
                <a:solidFill>
                  <a:srgbClr val="142744"/>
                </a:solidFill>
                <a:latin typeface="Aptos"/>
              </a:defRPr>
            </a:pPr>
            <a:r>
              <a:t>Next evaluation step: use labelled recordings, document the split, and report precision, recall, F1, and per-class results.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085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6400800" cy="219456"/>
          </a:xfrm>
          <a:prstGeom prst="rect">
            <a:avLst/>
          </a:prstGeom>
          <a:noFill/>
        </p:spPr>
        <p:txBody>
          <a:bodyPr wrap="square" lIns="27432" rIns="27432" tIns="27432" bIns="27432" anchor="t">
            <a:spAutoFit/>
          </a:bodyPr>
          <a:lstStyle/>
          <a:p>
            <a:pPr algn="l">
              <a:spcAft>
                <a:spcPts val="500"/>
              </a:spcAft>
              <a:defRPr sz="900" b="1" i="0">
                <a:solidFill>
                  <a:srgbClr val="00858B"/>
                </a:solidFill>
                <a:latin typeface="Aptos"/>
              </a:defRPr>
            </a:pPr>
            <a:r>
              <a:t>SUMMARY</a:t>
            </a:r>
          </a:p>
        </p:txBody>
      </p:sp>
      <p:sp>
        <p:nvSpPr>
          <p:cNvPr id="4" name="TextBox 3"/>
          <p:cNvSpPr txBox="1"/>
          <p:nvPr/>
        </p:nvSpPr>
        <p:spPr>
          <a:xfrm>
            <a:off x="594360" y="566928"/>
            <a:ext cx="10972800" cy="502920"/>
          </a:xfrm>
          <a:prstGeom prst="rect">
            <a:avLst/>
          </a:prstGeom>
          <a:noFill/>
        </p:spPr>
        <p:txBody>
          <a:bodyPr wrap="square" lIns="27432" rIns="27432" tIns="27432" bIns="27432" anchor="t">
            <a:spAutoFit/>
          </a:bodyPr>
          <a:lstStyle/>
          <a:p>
            <a:pPr algn="l">
              <a:spcAft>
                <a:spcPts val="500"/>
              </a:spcAft>
              <a:defRPr sz="2700" b="1" i="0">
                <a:solidFill>
                  <a:srgbClr val="142744"/>
                </a:solidFill>
                <a:latin typeface="Aptos Display"/>
              </a:defRPr>
            </a:pPr>
            <a:r>
              <a:t>Conclusion and Future Work</a:t>
            </a:r>
          </a:p>
        </p:txBody>
      </p:sp>
      <p:sp>
        <p:nvSpPr>
          <p:cNvPr id="5" name="Rectangle 4"/>
          <p:cNvSpPr/>
          <p:nvPr/>
        </p:nvSpPr>
        <p:spPr>
          <a:xfrm>
            <a:off x="594360" y="1170432"/>
            <a:ext cx="10972800" cy="16459"/>
          </a:xfrm>
          <a:prstGeom prst="rect">
            <a:avLst/>
          </a:prstGeom>
          <a:solidFill>
            <a:srgbClr val="D8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6547104"/>
            <a:ext cx="7315200" cy="164592"/>
          </a:xfrm>
          <a:prstGeom prst="rect">
            <a:avLst/>
          </a:prstGeom>
          <a:noFill/>
        </p:spPr>
        <p:txBody>
          <a:bodyPr wrap="square" lIns="27432" rIns="27432" tIns="27432" bIns="27432" anchor="t">
            <a:spAutoFit/>
          </a:bodyPr>
          <a:lstStyle/>
          <a:p>
            <a:pPr algn="l">
              <a:spcAft>
                <a:spcPts val="500"/>
              </a:spcAft>
              <a:defRPr sz="800" b="1" i="0">
                <a:solidFill>
                  <a:srgbClr val="626F7E"/>
                </a:solidFill>
                <a:latin typeface="Aptos"/>
              </a:defRPr>
            </a:pPr>
            <a:r>
              <a:t>AI-BASED MUSIC INSTRUMENT RECOGNITION SYSTEM  •  PROJECT REVIEW</a:t>
            </a:r>
          </a:p>
        </p:txBody>
      </p:sp>
      <p:sp>
        <p:nvSpPr>
          <p:cNvPr id="7" name="TextBox 6"/>
          <p:cNvSpPr txBox="1"/>
          <p:nvPr/>
        </p:nvSpPr>
        <p:spPr>
          <a:xfrm>
            <a:off x="11109960" y="6519672"/>
            <a:ext cx="457200" cy="201168"/>
          </a:xfrm>
          <a:prstGeom prst="rect">
            <a:avLst/>
          </a:prstGeom>
          <a:noFill/>
        </p:spPr>
        <p:txBody>
          <a:bodyPr wrap="square" lIns="27432" rIns="27432" tIns="27432" bIns="27432" anchor="t">
            <a:spAutoFit/>
          </a:bodyPr>
          <a:lstStyle/>
          <a:p>
            <a:pPr algn="r">
              <a:spcAft>
                <a:spcPts val="500"/>
              </a:spcAft>
              <a:defRPr sz="800" b="1" i="0">
                <a:solidFill>
                  <a:srgbClr val="626F7E"/>
                </a:solidFill>
                <a:latin typeface="Aptos"/>
              </a:defRPr>
            </a:pPr>
            <a:r>
              <a:t>12 / 14</a:t>
            </a:r>
          </a:p>
        </p:txBody>
      </p:sp>
      <p:sp>
        <p:nvSpPr>
          <p:cNvPr id="8" name="Rounded Rectangle 7"/>
          <p:cNvSpPr/>
          <p:nvPr/>
        </p:nvSpPr>
        <p:spPr>
          <a:xfrm>
            <a:off x="731520" y="1463040"/>
            <a:ext cx="5166360" cy="1143000"/>
          </a:xfrm>
          <a:prstGeom prst="roundRect">
            <a:avLst>
              <a:gd name="adj" fmla="val 12000"/>
            </a:avLst>
          </a:prstGeom>
          <a:solidFill>
            <a:srgbClr val="E7EFF8"/>
          </a:solidFill>
          <a:ln w="10160">
            <a:solidFill>
              <a:srgbClr val="E7EF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691640"/>
            <a:ext cx="4617720" cy="640080"/>
          </a:xfrm>
          <a:prstGeom prst="rect">
            <a:avLst/>
          </a:prstGeom>
          <a:noFill/>
        </p:spPr>
        <p:txBody>
          <a:bodyPr wrap="square" lIns="27432" rIns="27432" tIns="27432" bIns="27432" anchor="t">
            <a:spAutoFit/>
          </a:bodyPr>
          <a:lstStyle/>
          <a:p>
            <a:pPr algn="l">
              <a:spcAft>
                <a:spcPts val="500"/>
              </a:spcAft>
              <a:defRPr sz="1800" b="1" i="0">
                <a:solidFill>
                  <a:srgbClr val="142744"/>
                </a:solidFill>
                <a:latin typeface="Aptos"/>
              </a:defRPr>
            </a:pPr>
            <a:r>
              <a:t>The project delivers an integrated software workflow for time-localised instrument similarity analysis.</a:t>
            </a:r>
          </a:p>
        </p:txBody>
      </p:sp>
      <p:sp>
        <p:nvSpPr>
          <p:cNvPr id="10" name="TextBox 9"/>
          <p:cNvSpPr txBox="1"/>
          <p:nvPr/>
        </p:nvSpPr>
        <p:spPr>
          <a:xfrm>
            <a:off x="6309360" y="1481328"/>
            <a:ext cx="4572000" cy="320040"/>
          </a:xfrm>
          <a:prstGeom prst="rect">
            <a:avLst/>
          </a:prstGeom>
          <a:noFill/>
        </p:spPr>
        <p:txBody>
          <a:bodyPr wrap="square" lIns="27432" rIns="27432" tIns="27432" bIns="27432" anchor="t">
            <a:spAutoFit/>
          </a:bodyPr>
          <a:lstStyle/>
          <a:p>
            <a:pPr algn="l">
              <a:spcAft>
                <a:spcPts val="500"/>
              </a:spcAft>
              <a:defRPr sz="1200" b="1" i="0">
                <a:solidFill>
                  <a:srgbClr val="00858B"/>
                </a:solidFill>
                <a:latin typeface="Aptos"/>
              </a:defRPr>
            </a:pPr>
            <a:r>
              <a:t>FUTURE WORK</a:t>
            </a:r>
          </a:p>
        </p:txBody>
      </p:sp>
      <p:sp>
        <p:nvSpPr>
          <p:cNvPr id="11" name="TextBox 10"/>
          <p:cNvSpPr txBox="1"/>
          <p:nvPr/>
        </p:nvSpPr>
        <p:spPr>
          <a:xfrm>
            <a:off x="6309360" y="1874519"/>
            <a:ext cx="4754880" cy="3474720"/>
          </a:xfrm>
          <a:prstGeom prst="rect">
            <a:avLst/>
          </a:prstGeom>
          <a:noFill/>
        </p:spPr>
        <p:txBody>
          <a:bodyPr wrap="square" lIns="18288" rIns="27432" tIns="18288" bIns="18288">
            <a:spAutoFit/>
          </a:bodyPr>
          <a:lstStyle/>
          <a:p>
            <a:pPr>
              <a:spcAft>
                <a:spcPts val="900"/>
              </a:spcAft>
              <a:defRPr sz="1400">
                <a:solidFill>
                  <a:srgbClr val="27313E"/>
                </a:solidFill>
                <a:latin typeface="Aptos"/>
              </a:defRPr>
            </a:pPr>
            <a:r>
              <a:t>Evaluate with labelled, representative recordings.</a:t>
            </a:r>
          </a:p>
          <a:p>
            <a:pPr>
              <a:spcAft>
                <a:spcPts val="900"/>
              </a:spcAft>
              <a:defRPr sz="1400">
                <a:solidFill>
                  <a:srgbClr val="27313E"/>
                </a:solidFill>
                <a:latin typeface="Aptos"/>
              </a:defRPr>
            </a:pPr>
            <a:r>
              <a:t>Calibrate scores and document prompt sensitivity.</a:t>
            </a:r>
          </a:p>
          <a:p>
            <a:pPr>
              <a:spcAft>
                <a:spcPts val="900"/>
              </a:spcAft>
              <a:defRPr sz="1400">
                <a:solidFill>
                  <a:srgbClr val="27313E"/>
                </a:solidFill>
                <a:latin typeface="Aptos"/>
              </a:defRPr>
            </a:pPr>
            <a:r>
              <a:t>Measure end-to-end latency and resource use.</a:t>
            </a:r>
          </a:p>
          <a:p>
            <a:pPr>
              <a:spcAft>
                <a:spcPts val="900"/>
              </a:spcAft>
              <a:defRPr sz="1400">
                <a:solidFill>
                  <a:srgbClr val="27313E"/>
                </a:solidFill>
                <a:latin typeface="Aptos"/>
              </a:defRPr>
            </a:pPr>
            <a:r>
              <a:t>Assess source-separation leakage and failure cases.</a:t>
            </a:r>
          </a:p>
          <a:p>
            <a:pPr>
              <a:spcAft>
                <a:spcPts val="900"/>
              </a:spcAft>
              <a:defRPr sz="1400">
                <a:solidFill>
                  <a:srgbClr val="27313E"/>
                </a:solidFill>
                <a:latin typeface="Aptos"/>
              </a:defRPr>
            </a:pPr>
            <a:r>
              <a:t>Improve the interface and add reproducible test evidence.</a:t>
            </a:r>
          </a:p>
          <a:p>
            <a:pPr>
              <a:spcAft>
                <a:spcPts val="900"/>
              </a:spcAft>
              <a:defRPr sz="1400">
                <a:solidFill>
                  <a:srgbClr val="27313E"/>
                </a:solidFill>
                <a:latin typeface="Aptos"/>
              </a:defRPr>
            </a:pPr>
            <a:r>
              <a:t>Integrate additional MIR features only after validation.</a:t>
            </a:r>
          </a:p>
        </p:txBody>
      </p:sp>
      <p:sp>
        <p:nvSpPr>
          <p:cNvPr id="12" name="TextBox 11"/>
          <p:cNvSpPr txBox="1"/>
          <p:nvPr/>
        </p:nvSpPr>
        <p:spPr>
          <a:xfrm>
            <a:off x="822960" y="3063240"/>
            <a:ext cx="4754880" cy="320040"/>
          </a:xfrm>
          <a:prstGeom prst="rect">
            <a:avLst/>
          </a:prstGeom>
          <a:noFill/>
        </p:spPr>
        <p:txBody>
          <a:bodyPr wrap="square" lIns="27432" rIns="27432" tIns="27432" bIns="27432" anchor="t">
            <a:spAutoFit/>
          </a:bodyPr>
          <a:lstStyle/>
          <a:p>
            <a:pPr algn="l">
              <a:spcAft>
                <a:spcPts val="500"/>
              </a:spcAft>
              <a:defRPr sz="1300" b="1" i="0">
                <a:solidFill>
                  <a:srgbClr val="00858B"/>
                </a:solidFill>
                <a:latin typeface="Aptos"/>
              </a:defRPr>
            </a:pPr>
            <a:r>
              <a:t>Current contribution</a:t>
            </a:r>
          </a:p>
        </p:txBody>
      </p:sp>
      <p:sp>
        <p:nvSpPr>
          <p:cNvPr id="13" name="TextBox 12"/>
          <p:cNvSpPr txBox="1"/>
          <p:nvPr/>
        </p:nvSpPr>
        <p:spPr>
          <a:xfrm>
            <a:off x="841248" y="3456432"/>
            <a:ext cx="4709160" cy="1645920"/>
          </a:xfrm>
          <a:prstGeom prst="rect">
            <a:avLst/>
          </a:prstGeom>
          <a:noFill/>
        </p:spPr>
        <p:txBody>
          <a:bodyPr wrap="square" lIns="18288" rIns="27432" tIns="18288" bIns="18288">
            <a:spAutoFit/>
          </a:bodyPr>
          <a:lstStyle/>
          <a:p>
            <a:pPr>
              <a:spcAft>
                <a:spcPts val="800"/>
              </a:spcAft>
              <a:defRPr sz="1400">
                <a:solidFill>
                  <a:srgbClr val="27313E"/>
                </a:solidFill>
                <a:latin typeface="Aptos"/>
              </a:defRPr>
            </a:pPr>
            <a:r>
              <a:t>React frontend + FastAPI backend</a:t>
            </a:r>
          </a:p>
          <a:p>
            <a:pPr>
              <a:spcAft>
                <a:spcPts val="800"/>
              </a:spcAft>
              <a:defRPr sz="1400">
                <a:solidFill>
                  <a:srgbClr val="27313E"/>
                </a:solidFill>
                <a:latin typeface="Aptos"/>
              </a:defRPr>
            </a:pPr>
            <a:r>
              <a:t>Demucs-based preprocessing and pretrained CLAP scoring</a:t>
            </a:r>
          </a:p>
          <a:p>
            <a:pPr>
              <a:spcAft>
                <a:spcPts val="800"/>
              </a:spcAft>
              <a:defRPr sz="1400">
                <a:solidFill>
                  <a:srgbClr val="27313E"/>
                </a:solidFill>
                <a:latin typeface="Aptos"/>
              </a:defRPr>
            </a:pPr>
            <a:r>
              <a:t>Structured temporal and song-level outputs</a:t>
            </a:r>
          </a:p>
        </p:txBody>
      </p:sp>
      <p:sp>
        <p:nvSpPr>
          <p:cNvPr id="14" name="TextBox 13"/>
          <p:cNvSpPr txBox="1"/>
          <p:nvPr/>
        </p:nvSpPr>
        <p:spPr>
          <a:xfrm>
            <a:off x="822960" y="5577840"/>
            <a:ext cx="10332720" cy="411480"/>
          </a:xfrm>
          <a:prstGeom prst="rect">
            <a:avLst/>
          </a:prstGeom>
          <a:noFill/>
        </p:spPr>
        <p:txBody>
          <a:bodyPr wrap="square" lIns="27432" rIns="27432" tIns="27432" bIns="27432" anchor="t">
            <a:spAutoFit/>
          </a:bodyPr>
          <a:lstStyle/>
          <a:p>
            <a:pPr algn="l">
              <a:spcAft>
                <a:spcPts val="500"/>
              </a:spcAft>
              <a:defRPr sz="1100" b="0" i="1">
                <a:solidFill>
                  <a:srgbClr val="626F7E"/>
                </a:solidFill>
                <a:latin typeface="Aptos"/>
              </a:defRPr>
            </a:pPr>
            <a:r>
              <a:t>The current result is a software prototype; model performance claims require a separate empirical evaluation.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085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6400800" cy="219456"/>
          </a:xfrm>
          <a:prstGeom prst="rect">
            <a:avLst/>
          </a:prstGeom>
          <a:noFill/>
        </p:spPr>
        <p:txBody>
          <a:bodyPr wrap="square" lIns="27432" rIns="27432" tIns="27432" bIns="27432" anchor="t">
            <a:spAutoFit/>
          </a:bodyPr>
          <a:lstStyle/>
          <a:p>
            <a:pPr algn="l">
              <a:spcAft>
                <a:spcPts val="500"/>
              </a:spcAft>
              <a:defRPr sz="900" b="1" i="0">
                <a:solidFill>
                  <a:srgbClr val="00858B"/>
                </a:solidFill>
                <a:latin typeface="Aptos"/>
              </a:defRPr>
            </a:pPr>
            <a:r>
              <a:t>DEMONSTRATION</a:t>
            </a:r>
          </a:p>
        </p:txBody>
      </p:sp>
      <p:sp>
        <p:nvSpPr>
          <p:cNvPr id="4" name="TextBox 3"/>
          <p:cNvSpPr txBox="1"/>
          <p:nvPr/>
        </p:nvSpPr>
        <p:spPr>
          <a:xfrm>
            <a:off x="594360" y="566928"/>
            <a:ext cx="10972800" cy="502920"/>
          </a:xfrm>
          <a:prstGeom prst="rect">
            <a:avLst/>
          </a:prstGeom>
          <a:noFill/>
        </p:spPr>
        <p:txBody>
          <a:bodyPr wrap="square" lIns="27432" rIns="27432" tIns="27432" bIns="27432" anchor="t">
            <a:spAutoFit/>
          </a:bodyPr>
          <a:lstStyle/>
          <a:p>
            <a:pPr algn="l">
              <a:spcAft>
                <a:spcPts val="500"/>
              </a:spcAft>
              <a:defRPr sz="2700" b="1" i="0">
                <a:solidFill>
                  <a:srgbClr val="142744"/>
                </a:solidFill>
                <a:latin typeface="Aptos Display"/>
              </a:defRPr>
            </a:pPr>
            <a:r>
              <a:t>Outcome Achieved — Evidence</a:t>
            </a:r>
          </a:p>
        </p:txBody>
      </p:sp>
      <p:sp>
        <p:nvSpPr>
          <p:cNvPr id="5" name="Rectangle 4"/>
          <p:cNvSpPr/>
          <p:nvPr/>
        </p:nvSpPr>
        <p:spPr>
          <a:xfrm>
            <a:off x="594360" y="1170432"/>
            <a:ext cx="10972800" cy="16459"/>
          </a:xfrm>
          <a:prstGeom prst="rect">
            <a:avLst/>
          </a:prstGeom>
          <a:solidFill>
            <a:srgbClr val="D8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6547104"/>
            <a:ext cx="7315200" cy="164592"/>
          </a:xfrm>
          <a:prstGeom prst="rect">
            <a:avLst/>
          </a:prstGeom>
          <a:noFill/>
        </p:spPr>
        <p:txBody>
          <a:bodyPr wrap="square" lIns="27432" rIns="27432" tIns="27432" bIns="27432" anchor="t">
            <a:spAutoFit/>
          </a:bodyPr>
          <a:lstStyle/>
          <a:p>
            <a:pPr algn="l">
              <a:spcAft>
                <a:spcPts val="500"/>
              </a:spcAft>
              <a:defRPr sz="800" b="1" i="0">
                <a:solidFill>
                  <a:srgbClr val="626F7E"/>
                </a:solidFill>
                <a:latin typeface="Aptos"/>
              </a:defRPr>
            </a:pPr>
            <a:r>
              <a:t>AI-BASED MUSIC INSTRUMENT RECOGNITION SYSTEM  •  PROJECT REVIEW</a:t>
            </a:r>
          </a:p>
        </p:txBody>
      </p:sp>
      <p:sp>
        <p:nvSpPr>
          <p:cNvPr id="7" name="TextBox 6"/>
          <p:cNvSpPr txBox="1"/>
          <p:nvPr/>
        </p:nvSpPr>
        <p:spPr>
          <a:xfrm>
            <a:off x="11109960" y="6519672"/>
            <a:ext cx="457200" cy="201168"/>
          </a:xfrm>
          <a:prstGeom prst="rect">
            <a:avLst/>
          </a:prstGeom>
          <a:noFill/>
        </p:spPr>
        <p:txBody>
          <a:bodyPr wrap="square" lIns="27432" rIns="27432" tIns="27432" bIns="27432" anchor="t">
            <a:spAutoFit/>
          </a:bodyPr>
          <a:lstStyle/>
          <a:p>
            <a:pPr algn="r">
              <a:spcAft>
                <a:spcPts val="500"/>
              </a:spcAft>
              <a:defRPr sz="800" b="1" i="0">
                <a:solidFill>
                  <a:srgbClr val="626F7E"/>
                </a:solidFill>
                <a:latin typeface="Aptos"/>
              </a:defRPr>
            </a:pPr>
            <a:r>
              <a:t>13 / 14</a:t>
            </a:r>
          </a:p>
        </p:txBody>
      </p:sp>
      <p:sp>
        <p:nvSpPr>
          <p:cNvPr id="8" name="Rounded Rectangle 7"/>
          <p:cNvSpPr/>
          <p:nvPr/>
        </p:nvSpPr>
        <p:spPr>
          <a:xfrm>
            <a:off x="731520" y="1508760"/>
            <a:ext cx="3429000" cy="1463040"/>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508760"/>
            <a:ext cx="64008" cy="1463040"/>
          </a:xfrm>
          <a:prstGeom prst="rect">
            <a:avLst/>
          </a:prstGeom>
          <a:solidFill>
            <a:srgbClr val="2D6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655063"/>
            <a:ext cx="3044952" cy="310896"/>
          </a:xfrm>
          <a:prstGeom prst="rect">
            <a:avLst/>
          </a:prstGeom>
          <a:noFill/>
        </p:spPr>
        <p:txBody>
          <a:bodyPr wrap="square" lIns="27432" rIns="27432" tIns="27432" bIns="27432" anchor="t">
            <a:spAutoFit/>
          </a:bodyPr>
          <a:lstStyle/>
          <a:p>
            <a:pPr algn="l">
              <a:spcAft>
                <a:spcPts val="500"/>
              </a:spcAft>
              <a:defRPr sz="1600" b="1" i="0">
                <a:solidFill>
                  <a:srgbClr val="142744"/>
                </a:solidFill>
                <a:latin typeface="Aptos"/>
              </a:defRPr>
            </a:pPr>
            <a:r>
              <a:t>Software prototype</a:t>
            </a:r>
          </a:p>
        </p:txBody>
      </p:sp>
      <p:sp>
        <p:nvSpPr>
          <p:cNvPr id="11" name="TextBox 10"/>
          <p:cNvSpPr txBox="1"/>
          <p:nvPr/>
        </p:nvSpPr>
        <p:spPr>
          <a:xfrm>
            <a:off x="932688" y="2039112"/>
            <a:ext cx="3044952" cy="804672"/>
          </a:xfrm>
          <a:prstGeom prst="rect">
            <a:avLst/>
          </a:prstGeom>
          <a:noFill/>
        </p:spPr>
        <p:txBody>
          <a:bodyPr wrap="square" lIns="27432" rIns="27432" tIns="27432" bIns="27432" anchor="t">
            <a:spAutoFit/>
          </a:bodyPr>
          <a:lstStyle/>
          <a:p>
            <a:pPr algn="l">
              <a:spcAft>
                <a:spcPts val="500"/>
              </a:spcAft>
              <a:defRPr sz="1300" b="0" i="0">
                <a:solidFill>
                  <a:srgbClr val="27313E"/>
                </a:solidFill>
                <a:latin typeface="Aptos"/>
              </a:defRPr>
            </a:pPr>
            <a:r>
              <a:t>Web-based instrument-analysis workflow and supporting source code.</a:t>
            </a:r>
          </a:p>
        </p:txBody>
      </p:sp>
      <p:sp>
        <p:nvSpPr>
          <p:cNvPr id="12" name="Rounded Rectangle 11"/>
          <p:cNvSpPr/>
          <p:nvPr/>
        </p:nvSpPr>
        <p:spPr>
          <a:xfrm>
            <a:off x="4389120" y="1508760"/>
            <a:ext cx="3429000" cy="1463040"/>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508760"/>
            <a:ext cx="64008" cy="1463040"/>
          </a:xfrm>
          <a:prstGeom prst="rect">
            <a:avLst/>
          </a:prstGeom>
          <a:solidFill>
            <a:srgbClr val="0085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1655063"/>
            <a:ext cx="3044952" cy="310896"/>
          </a:xfrm>
          <a:prstGeom prst="rect">
            <a:avLst/>
          </a:prstGeom>
          <a:noFill/>
        </p:spPr>
        <p:txBody>
          <a:bodyPr wrap="square" lIns="27432" rIns="27432" tIns="27432" bIns="27432" anchor="t">
            <a:spAutoFit/>
          </a:bodyPr>
          <a:lstStyle/>
          <a:p>
            <a:pPr algn="l">
              <a:spcAft>
                <a:spcPts val="500"/>
              </a:spcAft>
              <a:defRPr sz="1600" b="1" i="0">
                <a:solidFill>
                  <a:srgbClr val="142744"/>
                </a:solidFill>
                <a:latin typeface="Aptos"/>
              </a:defRPr>
            </a:pPr>
            <a:r>
              <a:t>Evidence to insert</a:t>
            </a:r>
          </a:p>
        </p:txBody>
      </p:sp>
      <p:sp>
        <p:nvSpPr>
          <p:cNvPr id="15" name="TextBox 14"/>
          <p:cNvSpPr txBox="1"/>
          <p:nvPr/>
        </p:nvSpPr>
        <p:spPr>
          <a:xfrm>
            <a:off x="4590288" y="2039112"/>
            <a:ext cx="3044952" cy="804672"/>
          </a:xfrm>
          <a:prstGeom prst="rect">
            <a:avLst/>
          </a:prstGeom>
          <a:noFill/>
        </p:spPr>
        <p:txBody>
          <a:bodyPr wrap="square" lIns="27432" rIns="27432" tIns="27432" bIns="27432" anchor="t">
            <a:spAutoFit/>
          </a:bodyPr>
          <a:lstStyle/>
          <a:p>
            <a:pPr algn="l">
              <a:spcAft>
                <a:spcPts val="500"/>
              </a:spcAft>
              <a:defRPr sz="1300" b="0" i="0">
                <a:solidFill>
                  <a:srgbClr val="27313E"/>
                </a:solidFill>
                <a:latin typeface="Aptos"/>
              </a:defRPr>
            </a:pPr>
            <a:r>
              <a:t>Screenshot of running application and a real analysis output.</a:t>
            </a:r>
          </a:p>
        </p:txBody>
      </p:sp>
      <p:sp>
        <p:nvSpPr>
          <p:cNvPr id="16" name="Rounded Rectangle 15"/>
          <p:cNvSpPr/>
          <p:nvPr/>
        </p:nvSpPr>
        <p:spPr>
          <a:xfrm>
            <a:off x="8046720" y="1508760"/>
            <a:ext cx="3429000" cy="1463040"/>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508760"/>
            <a:ext cx="64008" cy="1463040"/>
          </a:xfrm>
          <a:prstGeom prst="rect">
            <a:avLst/>
          </a:prstGeom>
          <a:solidFill>
            <a:srgbClr val="CE9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1655063"/>
            <a:ext cx="3044952" cy="310896"/>
          </a:xfrm>
          <a:prstGeom prst="rect">
            <a:avLst/>
          </a:prstGeom>
          <a:noFill/>
        </p:spPr>
        <p:txBody>
          <a:bodyPr wrap="square" lIns="27432" rIns="27432" tIns="27432" bIns="27432" anchor="t">
            <a:spAutoFit/>
          </a:bodyPr>
          <a:lstStyle/>
          <a:p>
            <a:pPr algn="l">
              <a:spcAft>
                <a:spcPts val="500"/>
              </a:spcAft>
              <a:defRPr sz="1600" b="1" i="0">
                <a:solidFill>
                  <a:srgbClr val="142744"/>
                </a:solidFill>
                <a:latin typeface="Aptos"/>
              </a:defRPr>
            </a:pPr>
            <a:r>
              <a:t>Academic status</a:t>
            </a:r>
          </a:p>
        </p:txBody>
      </p:sp>
      <p:sp>
        <p:nvSpPr>
          <p:cNvPr id="19" name="TextBox 18"/>
          <p:cNvSpPr txBox="1"/>
          <p:nvPr/>
        </p:nvSpPr>
        <p:spPr>
          <a:xfrm>
            <a:off x="8247888" y="2039112"/>
            <a:ext cx="3044952" cy="804672"/>
          </a:xfrm>
          <a:prstGeom prst="rect">
            <a:avLst/>
          </a:prstGeom>
          <a:noFill/>
        </p:spPr>
        <p:txBody>
          <a:bodyPr wrap="square" lIns="27432" rIns="27432" tIns="27432" bIns="27432" anchor="t">
            <a:spAutoFit/>
          </a:bodyPr>
          <a:lstStyle/>
          <a:p>
            <a:pPr algn="l">
              <a:spcAft>
                <a:spcPts val="500"/>
              </a:spcAft>
              <a:defRPr sz="1300" b="0" i="0">
                <a:solidFill>
                  <a:srgbClr val="27313E"/>
                </a:solidFill>
                <a:latin typeface="Aptos"/>
              </a:defRPr>
            </a:pPr>
            <a:r>
              <a:t>Add guide approval and publication / patent status only if verified.</a:t>
            </a:r>
          </a:p>
        </p:txBody>
      </p:sp>
      <p:sp>
        <p:nvSpPr>
          <p:cNvPr id="20" name="Rounded Rectangle 19"/>
          <p:cNvSpPr/>
          <p:nvPr/>
        </p:nvSpPr>
        <p:spPr>
          <a:xfrm>
            <a:off x="749808" y="3337560"/>
            <a:ext cx="10716768" cy="1965960"/>
          </a:xfrm>
          <a:prstGeom prst="roundRect">
            <a:avLst>
              <a:gd name="adj" fmla="val 12000"/>
            </a:avLst>
          </a:prstGeom>
          <a:solidFill>
            <a:srgbClr val="F2F6FA"/>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4128" y="3566160"/>
            <a:ext cx="9966960" cy="292608"/>
          </a:xfrm>
          <a:prstGeom prst="rect">
            <a:avLst/>
          </a:prstGeom>
          <a:noFill/>
        </p:spPr>
        <p:txBody>
          <a:bodyPr wrap="square" lIns="27432" rIns="27432" tIns="27432" bIns="27432" anchor="t">
            <a:spAutoFit/>
          </a:bodyPr>
          <a:lstStyle/>
          <a:p>
            <a:pPr algn="l">
              <a:spcAft>
                <a:spcPts val="500"/>
              </a:spcAft>
              <a:defRPr sz="1300" b="1" i="0">
                <a:solidFill>
                  <a:srgbClr val="142744"/>
                </a:solidFill>
                <a:latin typeface="Aptos"/>
              </a:defRPr>
            </a:pPr>
            <a:r>
              <a:t>PRESENTATION CHECKLIST</a:t>
            </a:r>
          </a:p>
        </p:txBody>
      </p:sp>
      <p:sp>
        <p:nvSpPr>
          <p:cNvPr id="22" name="TextBox 21"/>
          <p:cNvSpPr txBox="1"/>
          <p:nvPr/>
        </p:nvSpPr>
        <p:spPr>
          <a:xfrm>
            <a:off x="1051560" y="3977639"/>
            <a:ext cx="9875520" cy="1051560"/>
          </a:xfrm>
          <a:prstGeom prst="rect">
            <a:avLst/>
          </a:prstGeom>
          <a:noFill/>
        </p:spPr>
        <p:txBody>
          <a:bodyPr wrap="square" lIns="18288" rIns="27432" tIns="18288" bIns="18288">
            <a:spAutoFit/>
          </a:bodyPr>
          <a:lstStyle/>
          <a:p>
            <a:pPr>
              <a:spcAft>
                <a:spcPts val="500"/>
              </a:spcAft>
              <a:defRPr sz="1200">
                <a:solidFill>
                  <a:srgbClr val="27313E"/>
                </a:solidFill>
                <a:latin typeface="Aptos"/>
              </a:defRPr>
            </a:pPr>
            <a:r>
              <a:t>Insert a screenshot of the live app with an actual analysis result.</a:t>
            </a:r>
          </a:p>
          <a:p>
            <a:pPr>
              <a:spcAft>
                <a:spcPts val="500"/>
              </a:spcAft>
              <a:defRPr sz="1200">
                <a:solidFill>
                  <a:srgbClr val="27313E"/>
                </a:solidFill>
                <a:latin typeface="Aptos"/>
              </a:defRPr>
            </a:pPr>
            <a:r>
              <a:t>Add the faculty guide’s approval email screenshot on Slide 2.</a:t>
            </a:r>
          </a:p>
          <a:p>
            <a:pPr>
              <a:spcAft>
                <a:spcPts val="500"/>
              </a:spcAft>
              <a:defRPr sz="1200">
                <a:solidFill>
                  <a:srgbClr val="27313E"/>
                </a:solidFill>
                <a:latin typeface="Aptos"/>
              </a:defRPr>
            </a:pPr>
            <a:r>
              <a:t>Replace all name, registration number, guide, and course placeholders.</a:t>
            </a:r>
          </a:p>
          <a:p>
            <a:pPr>
              <a:spcAft>
                <a:spcPts val="500"/>
              </a:spcAft>
              <a:defRPr sz="1200">
                <a:solidFill>
                  <a:srgbClr val="27313E"/>
                </a:solidFill>
                <a:latin typeface="Aptos"/>
              </a:defRPr>
            </a:pPr>
            <a:r>
              <a:t>State publication / patent status accurately; use “Not applicable” if none.</a:t>
            </a:r>
          </a:p>
        </p:txBody>
      </p:sp>
      <p:sp>
        <p:nvSpPr>
          <p:cNvPr id="23" name="TextBox 22"/>
          <p:cNvSpPr txBox="1"/>
          <p:nvPr/>
        </p:nvSpPr>
        <p:spPr>
          <a:xfrm>
            <a:off x="777240" y="5623560"/>
            <a:ext cx="10424160" cy="347472"/>
          </a:xfrm>
          <a:prstGeom prst="rect">
            <a:avLst/>
          </a:prstGeom>
          <a:noFill/>
        </p:spPr>
        <p:txBody>
          <a:bodyPr wrap="square" lIns="27432" rIns="27432" tIns="27432" bIns="27432" anchor="t">
            <a:spAutoFit/>
          </a:bodyPr>
          <a:lstStyle/>
          <a:p>
            <a:pPr algn="l">
              <a:spcAft>
                <a:spcPts val="500"/>
              </a:spcAft>
              <a:defRPr sz="1100" b="0" i="1">
                <a:solidFill>
                  <a:srgbClr val="626F7E"/>
                </a:solidFill>
                <a:latin typeface="Aptos"/>
              </a:defRPr>
            </a:pPr>
            <a:r>
              <a:t>Do not claim a paper, patent, deployment, or measured accuracy without documentary evidence.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085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6400800" cy="219456"/>
          </a:xfrm>
          <a:prstGeom prst="rect">
            <a:avLst/>
          </a:prstGeom>
          <a:noFill/>
        </p:spPr>
        <p:txBody>
          <a:bodyPr wrap="square" lIns="27432" rIns="27432" tIns="27432" bIns="27432" anchor="t">
            <a:spAutoFit/>
          </a:bodyPr>
          <a:lstStyle/>
          <a:p>
            <a:pPr algn="l">
              <a:spcAft>
                <a:spcPts val="500"/>
              </a:spcAft>
              <a:defRPr sz="900" b="1" i="0">
                <a:solidFill>
                  <a:srgbClr val="00858B"/>
                </a:solidFill>
                <a:latin typeface="Aptos"/>
              </a:defRPr>
            </a:pPr>
            <a:r>
              <a:t>SELECTED SOURCES</a:t>
            </a:r>
          </a:p>
        </p:txBody>
      </p:sp>
      <p:sp>
        <p:nvSpPr>
          <p:cNvPr id="4" name="TextBox 3"/>
          <p:cNvSpPr txBox="1"/>
          <p:nvPr/>
        </p:nvSpPr>
        <p:spPr>
          <a:xfrm>
            <a:off x="594360" y="566928"/>
            <a:ext cx="10972800" cy="502920"/>
          </a:xfrm>
          <a:prstGeom prst="rect">
            <a:avLst/>
          </a:prstGeom>
          <a:noFill/>
        </p:spPr>
        <p:txBody>
          <a:bodyPr wrap="square" lIns="27432" rIns="27432" tIns="27432" bIns="27432" anchor="t">
            <a:spAutoFit/>
          </a:bodyPr>
          <a:lstStyle/>
          <a:p>
            <a:pPr algn="l">
              <a:spcAft>
                <a:spcPts val="500"/>
              </a:spcAft>
              <a:defRPr sz="2700" b="1" i="0">
                <a:solidFill>
                  <a:srgbClr val="142744"/>
                </a:solidFill>
                <a:latin typeface="Aptos Display"/>
              </a:defRPr>
            </a:pPr>
            <a:r>
              <a:t>References</a:t>
            </a:r>
          </a:p>
        </p:txBody>
      </p:sp>
      <p:sp>
        <p:nvSpPr>
          <p:cNvPr id="5" name="Rectangle 4"/>
          <p:cNvSpPr/>
          <p:nvPr/>
        </p:nvSpPr>
        <p:spPr>
          <a:xfrm>
            <a:off x="594360" y="1170432"/>
            <a:ext cx="10972800" cy="16459"/>
          </a:xfrm>
          <a:prstGeom prst="rect">
            <a:avLst/>
          </a:prstGeom>
          <a:solidFill>
            <a:srgbClr val="D8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6547104"/>
            <a:ext cx="7315200" cy="164592"/>
          </a:xfrm>
          <a:prstGeom prst="rect">
            <a:avLst/>
          </a:prstGeom>
          <a:noFill/>
        </p:spPr>
        <p:txBody>
          <a:bodyPr wrap="square" lIns="27432" rIns="27432" tIns="27432" bIns="27432" anchor="t">
            <a:spAutoFit/>
          </a:bodyPr>
          <a:lstStyle/>
          <a:p>
            <a:pPr algn="l">
              <a:spcAft>
                <a:spcPts val="500"/>
              </a:spcAft>
              <a:defRPr sz="800" b="1" i="0">
                <a:solidFill>
                  <a:srgbClr val="626F7E"/>
                </a:solidFill>
                <a:latin typeface="Aptos"/>
              </a:defRPr>
            </a:pPr>
            <a:r>
              <a:t>AI-BASED MUSIC INSTRUMENT RECOGNITION SYSTEM  •  PROJECT REVIEW</a:t>
            </a:r>
          </a:p>
        </p:txBody>
      </p:sp>
      <p:sp>
        <p:nvSpPr>
          <p:cNvPr id="7" name="TextBox 6"/>
          <p:cNvSpPr txBox="1"/>
          <p:nvPr/>
        </p:nvSpPr>
        <p:spPr>
          <a:xfrm>
            <a:off x="11109960" y="6519672"/>
            <a:ext cx="457200" cy="201168"/>
          </a:xfrm>
          <a:prstGeom prst="rect">
            <a:avLst/>
          </a:prstGeom>
          <a:noFill/>
        </p:spPr>
        <p:txBody>
          <a:bodyPr wrap="square" lIns="27432" rIns="27432" tIns="27432" bIns="27432" anchor="t">
            <a:spAutoFit/>
          </a:bodyPr>
          <a:lstStyle/>
          <a:p>
            <a:pPr algn="r">
              <a:spcAft>
                <a:spcPts val="500"/>
              </a:spcAft>
              <a:defRPr sz="800" b="1" i="0">
                <a:solidFill>
                  <a:srgbClr val="626F7E"/>
                </a:solidFill>
                <a:latin typeface="Aptos"/>
              </a:defRPr>
            </a:pPr>
            <a:r>
              <a:t>14 / 14</a:t>
            </a:r>
          </a:p>
        </p:txBody>
      </p:sp>
      <p:sp>
        <p:nvSpPr>
          <p:cNvPr id="8" name="Rounded Rectangle 7"/>
          <p:cNvSpPr/>
          <p:nvPr/>
        </p:nvSpPr>
        <p:spPr>
          <a:xfrm>
            <a:off x="749808" y="1389888"/>
            <a:ext cx="10652760" cy="457200"/>
          </a:xfrm>
          <a:prstGeom prst="roundRect">
            <a:avLst>
              <a:gd name="adj" fmla="val 12000"/>
            </a:avLst>
          </a:prstGeom>
          <a:solidFill>
            <a:srgbClr val="F2F6FA"/>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458468"/>
            <a:ext cx="10241280" cy="301752"/>
          </a:xfrm>
          <a:prstGeom prst="rect">
            <a:avLst/>
          </a:prstGeom>
          <a:noFill/>
        </p:spPr>
        <p:txBody>
          <a:bodyPr wrap="square" lIns="27432" rIns="27432" tIns="27432" bIns="27432" anchor="t">
            <a:spAutoFit/>
          </a:bodyPr>
          <a:lstStyle/>
          <a:p>
            <a:pPr algn="l">
              <a:spcAft>
                <a:spcPts val="500"/>
              </a:spcAft>
              <a:defRPr sz="1100" b="0" i="0">
                <a:solidFill>
                  <a:srgbClr val="27313E"/>
                </a:solidFill>
                <a:latin typeface="Aptos"/>
              </a:defRPr>
            </a:pPr>
            <a:r>
              <a:t>[1] Y. Wu et al., “Large-scale Contrastive Language-Audio Pretraining with Feature Fusion and Keyword-to-Caption Augmentation,” ICASSP, 2023.</a:t>
            </a:r>
          </a:p>
        </p:txBody>
      </p:sp>
      <p:sp>
        <p:nvSpPr>
          <p:cNvPr id="10" name="Rounded Rectangle 9"/>
          <p:cNvSpPr/>
          <p:nvPr/>
        </p:nvSpPr>
        <p:spPr>
          <a:xfrm>
            <a:off x="749808" y="1975104"/>
            <a:ext cx="10652760" cy="457200"/>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043684"/>
            <a:ext cx="10241280" cy="301752"/>
          </a:xfrm>
          <a:prstGeom prst="rect">
            <a:avLst/>
          </a:prstGeom>
          <a:noFill/>
        </p:spPr>
        <p:txBody>
          <a:bodyPr wrap="square" lIns="27432" rIns="27432" tIns="27432" bIns="27432" anchor="t">
            <a:spAutoFit/>
          </a:bodyPr>
          <a:lstStyle/>
          <a:p>
            <a:pPr algn="l">
              <a:spcAft>
                <a:spcPts val="500"/>
              </a:spcAft>
              <a:defRPr sz="1100" b="0" i="0">
                <a:solidFill>
                  <a:srgbClr val="27313E"/>
                </a:solidFill>
                <a:latin typeface="Aptos"/>
              </a:defRPr>
            </a:pPr>
            <a:r>
              <a:t>[2] A. Défossez, N. Usunier, L. Bottou, and F. Bach, “Music Source Separation in the Waveform Domain,” arXiv:1911.13254, 2019.</a:t>
            </a:r>
          </a:p>
        </p:txBody>
      </p:sp>
      <p:sp>
        <p:nvSpPr>
          <p:cNvPr id="12" name="Rounded Rectangle 11"/>
          <p:cNvSpPr/>
          <p:nvPr/>
        </p:nvSpPr>
        <p:spPr>
          <a:xfrm>
            <a:off x="749808" y="2560320"/>
            <a:ext cx="10652760" cy="457200"/>
          </a:xfrm>
          <a:prstGeom prst="roundRect">
            <a:avLst>
              <a:gd name="adj" fmla="val 12000"/>
            </a:avLst>
          </a:prstGeom>
          <a:solidFill>
            <a:srgbClr val="F2F6FA"/>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2628900"/>
            <a:ext cx="10241280" cy="301752"/>
          </a:xfrm>
          <a:prstGeom prst="rect">
            <a:avLst/>
          </a:prstGeom>
          <a:noFill/>
        </p:spPr>
        <p:txBody>
          <a:bodyPr wrap="square" lIns="27432" rIns="27432" tIns="27432" bIns="27432" anchor="t">
            <a:spAutoFit/>
          </a:bodyPr>
          <a:lstStyle/>
          <a:p>
            <a:pPr algn="l">
              <a:spcAft>
                <a:spcPts val="500"/>
              </a:spcAft>
              <a:defRPr sz="1100" b="0" i="0">
                <a:solidFill>
                  <a:srgbClr val="27313E"/>
                </a:solidFill>
                <a:latin typeface="Aptos"/>
              </a:defRPr>
            </a:pPr>
            <a:r>
              <a:t>[3] F. Rouard, F. Massa, and A. Défossez, “Hybrid Transformers for Music Source Separation,” IEEE/ACM Transactions on Audio, Speech, and Language Processing, 2023.</a:t>
            </a:r>
          </a:p>
        </p:txBody>
      </p:sp>
      <p:sp>
        <p:nvSpPr>
          <p:cNvPr id="14" name="Rounded Rectangle 13"/>
          <p:cNvSpPr/>
          <p:nvPr/>
        </p:nvSpPr>
        <p:spPr>
          <a:xfrm>
            <a:off x="749808" y="3145536"/>
            <a:ext cx="10652760" cy="457200"/>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214116"/>
            <a:ext cx="10241280" cy="301752"/>
          </a:xfrm>
          <a:prstGeom prst="rect">
            <a:avLst/>
          </a:prstGeom>
          <a:noFill/>
        </p:spPr>
        <p:txBody>
          <a:bodyPr wrap="square" lIns="27432" rIns="27432" tIns="27432" bIns="27432" anchor="t">
            <a:spAutoFit/>
          </a:bodyPr>
          <a:lstStyle/>
          <a:p>
            <a:pPr algn="l">
              <a:spcAft>
                <a:spcPts val="500"/>
              </a:spcAft>
              <a:defRPr sz="1100" b="0" i="0">
                <a:solidFill>
                  <a:srgbClr val="27313E"/>
                </a:solidFill>
                <a:latin typeface="Aptos"/>
              </a:defRPr>
            </a:pPr>
            <a:r>
              <a:t>[4] B. McFee et al., “librosa: Audio and Music Signal Analysis in Python,” Proceedings of the 14th Python in Science Conference, 2015.</a:t>
            </a:r>
          </a:p>
        </p:txBody>
      </p:sp>
      <p:sp>
        <p:nvSpPr>
          <p:cNvPr id="16" name="Rounded Rectangle 15"/>
          <p:cNvSpPr/>
          <p:nvPr/>
        </p:nvSpPr>
        <p:spPr>
          <a:xfrm>
            <a:off x="749808" y="3730752"/>
            <a:ext cx="10652760" cy="457200"/>
          </a:xfrm>
          <a:prstGeom prst="roundRect">
            <a:avLst>
              <a:gd name="adj" fmla="val 12000"/>
            </a:avLst>
          </a:prstGeom>
          <a:solidFill>
            <a:srgbClr val="F2F6FA"/>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3799332"/>
            <a:ext cx="10241280" cy="301752"/>
          </a:xfrm>
          <a:prstGeom prst="rect">
            <a:avLst/>
          </a:prstGeom>
          <a:noFill/>
        </p:spPr>
        <p:txBody>
          <a:bodyPr wrap="square" lIns="27432" rIns="27432" tIns="27432" bIns="27432" anchor="t">
            <a:spAutoFit/>
          </a:bodyPr>
          <a:lstStyle/>
          <a:p>
            <a:pPr algn="l">
              <a:spcAft>
                <a:spcPts val="500"/>
              </a:spcAft>
              <a:defRPr sz="1100" b="0" i="0">
                <a:solidFill>
                  <a:srgbClr val="27313E"/>
                </a:solidFill>
                <a:latin typeface="Aptos"/>
              </a:defRPr>
            </a:pPr>
            <a:r>
              <a:t>[5] FastAPI Documentation. https://fastapi.tiangolo.com/</a:t>
            </a:r>
          </a:p>
        </p:txBody>
      </p:sp>
      <p:sp>
        <p:nvSpPr>
          <p:cNvPr id="18" name="Rounded Rectangle 17"/>
          <p:cNvSpPr/>
          <p:nvPr/>
        </p:nvSpPr>
        <p:spPr>
          <a:xfrm>
            <a:off x="749808" y="4315968"/>
            <a:ext cx="10652760" cy="457200"/>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384548"/>
            <a:ext cx="10241280" cy="301752"/>
          </a:xfrm>
          <a:prstGeom prst="rect">
            <a:avLst/>
          </a:prstGeom>
          <a:noFill/>
        </p:spPr>
        <p:txBody>
          <a:bodyPr wrap="square" lIns="27432" rIns="27432" tIns="27432" bIns="27432" anchor="t">
            <a:spAutoFit/>
          </a:bodyPr>
          <a:lstStyle/>
          <a:p>
            <a:pPr algn="l">
              <a:spcAft>
                <a:spcPts val="500"/>
              </a:spcAft>
              <a:defRPr sz="1100" b="0" i="0">
                <a:solidFill>
                  <a:srgbClr val="27313E"/>
                </a:solidFill>
                <a:latin typeface="Aptos"/>
              </a:defRPr>
            </a:pPr>
            <a:r>
              <a:t>[6] React Documentation. https://react.dev/</a:t>
            </a:r>
          </a:p>
        </p:txBody>
      </p:sp>
      <p:sp>
        <p:nvSpPr>
          <p:cNvPr id="20" name="Rounded Rectangle 19"/>
          <p:cNvSpPr/>
          <p:nvPr/>
        </p:nvSpPr>
        <p:spPr>
          <a:xfrm>
            <a:off x="749808" y="4901183"/>
            <a:ext cx="10652760" cy="457200"/>
          </a:xfrm>
          <a:prstGeom prst="roundRect">
            <a:avLst>
              <a:gd name="adj" fmla="val 12000"/>
            </a:avLst>
          </a:prstGeom>
          <a:solidFill>
            <a:srgbClr val="F2F6FA"/>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 y="4969764"/>
            <a:ext cx="10241280" cy="301752"/>
          </a:xfrm>
          <a:prstGeom prst="rect">
            <a:avLst/>
          </a:prstGeom>
          <a:noFill/>
        </p:spPr>
        <p:txBody>
          <a:bodyPr wrap="square" lIns="27432" rIns="27432" tIns="27432" bIns="27432" anchor="t">
            <a:spAutoFit/>
          </a:bodyPr>
          <a:lstStyle/>
          <a:p>
            <a:pPr algn="l">
              <a:spcAft>
                <a:spcPts val="500"/>
              </a:spcAft>
              <a:defRPr sz="1100" b="0" i="0">
                <a:solidFill>
                  <a:srgbClr val="27313E"/>
                </a:solidFill>
                <a:latin typeface="Aptos"/>
              </a:defRPr>
            </a:pPr>
            <a:r>
              <a:t>[7] Hugging Face, “laion/clap-htsat-unfused” model card. https://huggingface.co/laion/clap-htsat-unfused</a:t>
            </a:r>
          </a:p>
        </p:txBody>
      </p:sp>
      <p:sp>
        <p:nvSpPr>
          <p:cNvPr id="22" name="Rounded Rectangle 21"/>
          <p:cNvSpPr/>
          <p:nvPr/>
        </p:nvSpPr>
        <p:spPr>
          <a:xfrm>
            <a:off x="749808" y="5486400"/>
            <a:ext cx="10652760" cy="457200"/>
          </a:xfrm>
          <a:prstGeom prst="roundRect">
            <a:avLst>
              <a:gd name="adj" fmla="val 12000"/>
            </a:avLst>
          </a:prstGeom>
          <a:solidFill>
            <a:srgbClr val="FFFFFF"/>
          </a:solidFill>
          <a:ln w="1016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5554980"/>
            <a:ext cx="10241280" cy="301752"/>
          </a:xfrm>
          <a:prstGeom prst="rect">
            <a:avLst/>
          </a:prstGeom>
          <a:noFill/>
        </p:spPr>
        <p:txBody>
          <a:bodyPr wrap="square" lIns="27432" rIns="27432" tIns="27432" bIns="27432" anchor="t">
            <a:spAutoFit/>
          </a:bodyPr>
          <a:lstStyle/>
          <a:p>
            <a:pPr algn="l">
              <a:spcAft>
                <a:spcPts val="500"/>
              </a:spcAft>
              <a:defRPr sz="1100" b="0" i="0">
                <a:solidFill>
                  <a:srgbClr val="27313E"/>
                </a:solidFill>
                <a:latin typeface="Aptos"/>
              </a:defRPr>
            </a:pPr>
            <a:r>
              <a:t>[8] Demucs source-separation project. https://github.com/facebookresearch/demucs</a:t>
            </a:r>
          </a:p>
        </p:txBody>
      </p:sp>
      <p:sp>
        <p:nvSpPr>
          <p:cNvPr id="24" name="TextBox 23"/>
          <p:cNvSpPr txBox="1"/>
          <p:nvPr/>
        </p:nvSpPr>
        <p:spPr>
          <a:xfrm>
            <a:off x="777240" y="6199632"/>
            <a:ext cx="10424160" cy="182880"/>
          </a:xfrm>
          <a:prstGeom prst="rect">
            <a:avLst/>
          </a:prstGeom>
          <a:noFill/>
        </p:spPr>
        <p:txBody>
          <a:bodyPr wrap="square" lIns="27432" rIns="27432" tIns="27432" bIns="27432" anchor="t">
            <a:spAutoFit/>
          </a:bodyPr>
          <a:lstStyle/>
          <a:p>
            <a:pPr algn="l">
              <a:spcAft>
                <a:spcPts val="500"/>
              </a:spcAft>
              <a:defRPr sz="900" b="0" i="1">
                <a:solidFill>
                  <a:srgbClr val="626F7E"/>
                </a:solidFill>
                <a:latin typeface="Aptos"/>
              </a:defRPr>
            </a:pPr>
            <a:r>
              <a:t>Verify bibliographic details and access dates against the sources consulted before submission.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Music Instrument Recognition System — Project Review</dc:title>
  <dc:subject>Panel review presentation</dc:subject>
  <dc:creator>Project Team</dc:creator>
  <cp:keywords>music instrument recognition, CLAP, Demucs, FastAPI, React</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